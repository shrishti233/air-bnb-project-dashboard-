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Share</c:v>
                </c:pt>
              </c:strCache>
            </c:strRef>
          </c:tx>
          <c:cat>
            <c:strRef>
              <c:f>Sheet1!$A$2:$A$4</c:f>
              <c:strCache>
                <c:ptCount val="3"/>
                <c:pt idx="0">
                  <c:v>Entire home</c:v>
                </c:pt>
                <c:pt idx="1">
                  <c:v>Private room</c:v>
                </c:pt>
                <c:pt idx="2">
                  <c:v>Shared room</c:v>
                </c:pt>
              </c:strCache>
            </c:strRef>
          </c:cat>
          <c:val>
            <c:numRef>
              <c:f>Sheet1!$B$2:$B$4</c:f>
              <c:numCache>
                <c:formatCode>General</c:formatCode>
                <c:ptCount val="3"/>
                <c:pt idx="0">
                  <c:v>46.66</c:v>
                </c:pt>
                <c:pt idx="1">
                  <c:v>43.34</c:v>
                </c:pt>
                <c:pt idx="2">
                  <c:v>10</c:v>
                </c:pt>
              </c:numCache>
            </c:numRef>
          </c:val>
        </c:ser>
        <c:dLbls>
          <c:showLegendKey val="0"/>
          <c:showVal val="0"/>
          <c:showCatName val="0"/>
          <c:showSerName val="0"/>
          <c:showPercent val="1"/>
          <c:showBubbleSize val="0"/>
          <c:showLeaderLines val="1"/>
        </c:dLbls>
        <c:firstSliceAng val="0"/>
        <c:holeSize val="50"/>
      </c:doughnutChart>
    </c:plotArea>
    <c:legend>
      <c:legendPos val="b"/>
      <c:layout/>
      <c:overlay val="0"/>
      <c:txPr>
        <a:bodyPr/>
        <a:lstStyle/>
        <a:p>
          <a:pPr>
            <a:defRPr sz="1000"/>
          </a:pPr>
        </a:p>
      </c:txPr>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Share</c:v>
                </c:pt>
              </c:strCache>
            </c:strRef>
          </c:tx>
          <c:cat>
            <c:strRef>
              <c:f>Sheet1!$A$2:$A$3</c:f>
              <c:strCache>
                <c:ptCount val="2"/>
                <c:pt idx="0">
                  <c:v>Private host</c:v>
                </c:pt>
                <c:pt idx="1">
                  <c:v>Superhost</c:v>
                </c:pt>
              </c:strCache>
            </c:strRef>
          </c:cat>
          <c:val>
            <c:numRef>
              <c:f>Sheet1!$B$2:$B$3</c:f>
              <c:numCache>
                <c:formatCode>General</c:formatCode>
                <c:ptCount val="2"/>
                <c:pt idx="0">
                  <c:v>53</c:v>
                </c:pt>
                <c:pt idx="1">
                  <c:v>47</c:v>
                </c:pt>
              </c:numCache>
            </c:numRef>
          </c:val>
        </c:ser>
        <c:dLbls>
          <c:showLegendKey val="0"/>
          <c:showVal val="0"/>
          <c:showCatName val="0"/>
          <c:showSerName val="0"/>
          <c:showPercent val="1"/>
          <c:showBubbleSize val="0"/>
          <c:showLeaderLines val="1"/>
        </c:dLbls>
        <c:firstSliceAng val="0"/>
        <c:holeSize val="50"/>
      </c:doughnutChart>
    </c:plotArea>
    <c:legend>
      <c:legendPos val="b"/>
      <c:layout/>
      <c:overlay val="0"/>
      <c:txPr>
        <a:bodyPr/>
        <a:lstStyle/>
        <a:p>
          <a:pPr>
            <a:defRPr sz="1000"/>
          </a:pPr>
        </a:p>
      </c:txPr>
    </c:legend>
    <c:plotVisOnly val="1"/>
    <c:dispBlanksAs val="gap"/>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3934"/>
        </a:solidFill>
        <a:effectLst/>
      </p:bgPr>
    </p:bg>
    <p:spTree>
      <p:nvGrpSpPr>
        <p:cNvPr id="1" name=""/>
        <p:cNvGrpSpPr/>
        <p:nvPr/>
      </p:nvGrpSpPr>
      <p:grpSpPr/>
      <p:sp>
        <p:nvSpPr>
          <p:cNvPr id="2" name="Oval 1"/>
          <p:cNvSpPr/>
          <p:nvPr/>
        </p:nvSpPr>
        <p:spPr>
          <a:xfrm>
            <a:off x="8321040" y="-548640"/>
            <a:ext cx="4846320" cy="4846320"/>
          </a:xfrm>
          <a:prstGeom prst="ellipse">
            <a:avLst/>
          </a:prstGeom>
          <a:solidFill>
            <a:srgbClr val="3D775B"/>
          </a:solidFill>
          <a:ln>
            <a:solidFill>
              <a:srgbClr val="3D77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0" y="457200"/>
            <a:ext cx="2743200" cy="2743200"/>
          </a:xfrm>
          <a:prstGeom prst="ellipse">
            <a:avLst/>
          </a:prstGeom>
          <a:solidFill>
            <a:srgbClr val="B7D8C3"/>
          </a:solidFill>
          <a:ln>
            <a:solidFill>
              <a:srgbClr val="B7D8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1097280"/>
            <a:ext cx="1463040" cy="1463040"/>
          </a:xfrm>
          <a:prstGeom prst="ellipse">
            <a:avLst/>
          </a:prstGeom>
          <a:solidFill>
            <a:srgbClr val="193934"/>
          </a:solidFill>
          <a:ln>
            <a:solidFill>
              <a:srgbClr val="193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640080"/>
            <a:ext cx="1371600" cy="347472"/>
          </a:xfrm>
          <a:prstGeom prst="roundRect">
            <a:avLst/>
          </a:prstGeom>
          <a:solidFill>
            <a:srgbClr val="EC7D62"/>
          </a:solidFill>
          <a:ln>
            <a:solidFill>
              <a:srgbClr val="EC7D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713232"/>
            <a:ext cx="1234440" cy="182880"/>
          </a:xfrm>
          <a:prstGeom prst="rect">
            <a:avLst/>
          </a:prstGeom>
          <a:noFill/>
        </p:spPr>
        <p:txBody>
          <a:bodyPr wrap="none" lIns="54864" rIns="54864" tIns="27432" bIns="27432">
            <a:spAutoFit/>
          </a:bodyPr>
          <a:lstStyle/>
          <a:p>
            <a:pPr>
              <a:defRPr sz="900" b="1" i="0">
                <a:solidFill>
                  <a:srgbClr val="FFFFFF"/>
                </a:solidFill>
                <a:latin typeface="Aptos"/>
              </a:defRPr>
            </a:pPr>
            <a:r>
              <a:t>DATA STORY / 01</a:t>
            </a:r>
          </a:p>
        </p:txBody>
      </p:sp>
      <p:sp>
        <p:nvSpPr>
          <p:cNvPr id="7" name="TextBox 6"/>
          <p:cNvSpPr txBox="1"/>
          <p:nvPr/>
        </p:nvSpPr>
        <p:spPr>
          <a:xfrm>
            <a:off x="731520" y="1417320"/>
            <a:ext cx="6858000" cy="1508760"/>
          </a:xfrm>
          <a:prstGeom prst="rect">
            <a:avLst/>
          </a:prstGeom>
          <a:noFill/>
        </p:spPr>
        <p:txBody>
          <a:bodyPr wrap="none" lIns="54864" rIns="54864" tIns="27432" bIns="27432">
            <a:spAutoFit/>
          </a:bodyPr>
          <a:lstStyle/>
          <a:p>
            <a:pPr>
              <a:defRPr sz="3900" b="1" i="0">
                <a:solidFill>
                  <a:srgbClr val="FFFFFF"/>
                </a:solidFill>
                <a:latin typeface="Aptos"/>
              </a:defRPr>
            </a:pPr>
            <a:r>
              <a:t>AIRBNB</a:t>
            </a:r>
          </a:p>
          <a:p>
            <a:pPr>
              <a:defRPr sz="3900" b="1" i="0">
                <a:solidFill>
                  <a:srgbClr val="FFFFFF"/>
                </a:solidFill>
                <a:latin typeface="Aptos"/>
              </a:defRPr>
            </a:pPr>
            <a:r>
              <a:t>ANALYTICS</a:t>
            </a:r>
          </a:p>
        </p:txBody>
      </p:sp>
      <p:sp>
        <p:nvSpPr>
          <p:cNvPr id="8" name="TextBox 7"/>
          <p:cNvSpPr txBox="1"/>
          <p:nvPr/>
        </p:nvSpPr>
        <p:spPr>
          <a:xfrm>
            <a:off x="777240" y="3154680"/>
            <a:ext cx="6858000" cy="457200"/>
          </a:xfrm>
          <a:prstGeom prst="rect">
            <a:avLst/>
          </a:prstGeom>
          <a:noFill/>
        </p:spPr>
        <p:txBody>
          <a:bodyPr wrap="none" lIns="54864" rIns="54864" tIns="27432" bIns="27432">
            <a:spAutoFit/>
          </a:bodyPr>
          <a:lstStyle/>
          <a:p>
            <a:pPr>
              <a:defRPr sz="2100" b="0" i="0">
                <a:solidFill>
                  <a:srgbClr val="B7D8C3"/>
                </a:solidFill>
                <a:latin typeface="Aptos"/>
              </a:defRPr>
            </a:pPr>
            <a:r>
              <a:t>From a dashboard to business decisions</a:t>
            </a:r>
          </a:p>
        </p:txBody>
      </p:sp>
      <p:sp>
        <p:nvSpPr>
          <p:cNvPr id="9" name="TextBox 8"/>
          <p:cNvSpPr txBox="1"/>
          <p:nvPr/>
        </p:nvSpPr>
        <p:spPr>
          <a:xfrm>
            <a:off x="777240" y="3794760"/>
            <a:ext cx="6400800" cy="731520"/>
          </a:xfrm>
          <a:prstGeom prst="rect">
            <a:avLst/>
          </a:prstGeom>
          <a:noFill/>
        </p:spPr>
        <p:txBody>
          <a:bodyPr wrap="none" lIns="54864" rIns="54864" tIns="27432" bIns="27432">
            <a:spAutoFit/>
          </a:bodyPr>
          <a:lstStyle/>
          <a:p>
            <a:pPr>
              <a:defRPr sz="1600" b="0" i="0">
                <a:solidFill>
                  <a:srgbClr val="FFFFFF"/>
                </a:solidFill>
                <a:latin typeface="Aptos"/>
              </a:defRPr>
            </a:pPr>
            <a:r>
              <a:t>A classroom walkthrough of KPIs, charts, the map and the questions they help us answer.</a:t>
            </a:r>
          </a:p>
        </p:txBody>
      </p:sp>
      <p:sp>
        <p:nvSpPr>
          <p:cNvPr id="10" name="TextBox 9"/>
          <p:cNvSpPr txBox="1"/>
          <p:nvPr/>
        </p:nvSpPr>
        <p:spPr>
          <a:xfrm>
            <a:off x="777240" y="5257800"/>
            <a:ext cx="1828800" cy="228600"/>
          </a:xfrm>
          <a:prstGeom prst="rect">
            <a:avLst/>
          </a:prstGeom>
          <a:noFill/>
        </p:spPr>
        <p:txBody>
          <a:bodyPr wrap="none" lIns="54864" rIns="54864" tIns="27432" bIns="27432">
            <a:spAutoFit/>
          </a:bodyPr>
          <a:lstStyle/>
          <a:p>
            <a:pPr>
              <a:defRPr sz="1000" b="1" i="0">
                <a:solidFill>
                  <a:srgbClr val="EABE5F"/>
                </a:solidFill>
                <a:latin typeface="Aptos"/>
              </a:defRPr>
            </a:pPr>
            <a:r>
              <a:t>THE BIG IDEA</a:t>
            </a:r>
          </a:p>
        </p:txBody>
      </p:sp>
      <p:sp>
        <p:nvSpPr>
          <p:cNvPr id="11" name="TextBox 10"/>
          <p:cNvSpPr txBox="1"/>
          <p:nvPr/>
        </p:nvSpPr>
        <p:spPr>
          <a:xfrm>
            <a:off x="777240" y="5559552"/>
            <a:ext cx="8046720" cy="502920"/>
          </a:xfrm>
          <a:prstGeom prst="rect">
            <a:avLst/>
          </a:prstGeom>
          <a:noFill/>
        </p:spPr>
        <p:txBody>
          <a:bodyPr wrap="none" lIns="54864" rIns="54864" tIns="27432" bIns="27432">
            <a:spAutoFit/>
          </a:bodyPr>
          <a:lstStyle/>
          <a:p>
            <a:pPr>
              <a:defRPr sz="1600" b="0" i="1">
                <a:solidFill>
                  <a:srgbClr val="FFFFFF"/>
                </a:solidFill>
                <a:latin typeface="Aptos"/>
              </a:defRPr>
            </a:pPr>
            <a:r>
              <a:t>A good dashboard does not just show numbers — it helps us ask better questions.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FF7F1"/>
        </a:solidFill>
        <a:effectLst/>
      </p:bgPr>
    </p:bg>
    <p:spTree>
      <p:nvGrpSpPr>
        <p:cNvPr id="1" name=""/>
        <p:cNvGrpSpPr/>
        <p:nvPr/>
      </p:nvGrpSpPr>
      <p:grpSpPr/>
      <p:sp>
        <p:nvSpPr>
          <p:cNvPr id="2" name="TextBox 1"/>
          <p:cNvSpPr txBox="1"/>
          <p:nvPr/>
        </p:nvSpPr>
        <p:spPr>
          <a:xfrm>
            <a:off x="594360" y="274320"/>
            <a:ext cx="9144000" cy="228600"/>
          </a:xfrm>
          <a:prstGeom prst="rect">
            <a:avLst/>
          </a:prstGeom>
          <a:noFill/>
        </p:spPr>
        <p:txBody>
          <a:bodyPr wrap="none" lIns="54864" rIns="54864" tIns="27432" bIns="27432">
            <a:spAutoFit/>
          </a:bodyPr>
          <a:lstStyle/>
          <a:p>
            <a:pPr>
              <a:defRPr sz="1000" b="1" i="0">
                <a:solidFill>
                  <a:srgbClr val="3D775B"/>
                </a:solidFill>
                <a:latin typeface="Aptos"/>
              </a:defRPr>
            </a:pPr>
            <a:r>
              <a:t>01 / STORY</a:t>
            </a:r>
          </a:p>
        </p:txBody>
      </p:sp>
      <p:sp>
        <p:nvSpPr>
          <p:cNvPr id="3" name="TextBox 2"/>
          <p:cNvSpPr txBox="1"/>
          <p:nvPr/>
        </p:nvSpPr>
        <p:spPr>
          <a:xfrm>
            <a:off x="594360" y="566928"/>
            <a:ext cx="10972800" cy="502920"/>
          </a:xfrm>
          <a:prstGeom prst="rect">
            <a:avLst/>
          </a:prstGeom>
          <a:noFill/>
        </p:spPr>
        <p:txBody>
          <a:bodyPr wrap="none" lIns="54864" rIns="54864" tIns="27432" bIns="27432">
            <a:spAutoFit/>
          </a:bodyPr>
          <a:lstStyle/>
          <a:p>
            <a:pPr>
              <a:defRPr sz="2700" b="1" i="0">
                <a:solidFill>
                  <a:srgbClr val="193934"/>
                </a:solidFill>
                <a:latin typeface="Aptos"/>
              </a:defRPr>
            </a:pPr>
            <a:r>
              <a:t>What is this dashboard trying to tell us?</a:t>
            </a:r>
          </a:p>
        </p:txBody>
      </p:sp>
      <p:sp>
        <p:nvSpPr>
          <p:cNvPr id="4" name="TextBox 3"/>
          <p:cNvSpPr txBox="1"/>
          <p:nvPr/>
        </p:nvSpPr>
        <p:spPr>
          <a:xfrm>
            <a:off x="621792" y="1097280"/>
            <a:ext cx="10972800" cy="320040"/>
          </a:xfrm>
          <a:prstGeom prst="rect">
            <a:avLst/>
          </a:prstGeom>
          <a:noFill/>
        </p:spPr>
        <p:txBody>
          <a:bodyPr wrap="none" lIns="54864" rIns="54864" tIns="27432" bIns="27432">
            <a:spAutoFit/>
          </a:bodyPr>
          <a:lstStyle/>
          <a:p>
            <a:pPr>
              <a:defRPr sz="1200" b="0" i="0">
                <a:solidFill>
                  <a:srgbClr val="5A6C65"/>
                </a:solidFill>
                <a:latin typeface="Aptos"/>
              </a:defRPr>
            </a:pPr>
            <a:r>
              <a:t>We explore Airbnb listings, room types, nightly prices, reviews and location.</a:t>
            </a:r>
          </a:p>
        </p:txBody>
      </p:sp>
      <p:sp>
        <p:nvSpPr>
          <p:cNvPr id="5" name="TextBox 4"/>
          <p:cNvSpPr txBox="1"/>
          <p:nvPr/>
        </p:nvSpPr>
        <p:spPr>
          <a:xfrm>
            <a:off x="11109960" y="274320"/>
            <a:ext cx="457200" cy="274320"/>
          </a:xfrm>
          <a:prstGeom prst="rect">
            <a:avLst/>
          </a:prstGeom>
          <a:noFill/>
        </p:spPr>
        <p:txBody>
          <a:bodyPr wrap="none" lIns="54864" rIns="54864" tIns="27432" bIns="27432">
            <a:spAutoFit/>
          </a:bodyPr>
          <a:lstStyle/>
          <a:p>
            <a:pPr algn="r">
              <a:defRPr sz="1100" b="1" i="0">
                <a:solidFill>
                  <a:srgbClr val="3D775B"/>
                </a:solidFill>
                <a:latin typeface="Aptos"/>
              </a:defRPr>
            </a:pPr>
            <a:r>
              <a:t>02</a:t>
            </a:r>
          </a:p>
        </p:txBody>
      </p:sp>
      <p:sp>
        <p:nvSpPr>
          <p:cNvPr id="6" name="TextBox 5"/>
          <p:cNvSpPr txBox="1"/>
          <p:nvPr/>
        </p:nvSpPr>
        <p:spPr>
          <a:xfrm>
            <a:off x="594360" y="6510528"/>
            <a:ext cx="10972800" cy="182880"/>
          </a:xfrm>
          <a:prstGeom prst="rect">
            <a:avLst/>
          </a:prstGeom>
          <a:noFill/>
        </p:spPr>
        <p:txBody>
          <a:bodyPr wrap="none" lIns="54864" rIns="54864" tIns="27432" bIns="27432">
            <a:spAutoFit/>
          </a:bodyPr>
          <a:lstStyle/>
          <a:p>
            <a:pPr>
              <a:defRPr sz="800" b="1" i="0">
                <a:solidFill>
                  <a:srgbClr val="5A6C65"/>
                </a:solidFill>
                <a:latin typeface="Aptos"/>
              </a:defRPr>
            </a:pPr>
            <a:r>
              <a:t>AIRBNB ANALYTICS  •  CLASSROOM WALKTHROUGH</a:t>
            </a:r>
          </a:p>
        </p:txBody>
      </p:sp>
      <p:sp>
        <p:nvSpPr>
          <p:cNvPr id="7" name="Rounded Rectangle 6"/>
          <p:cNvSpPr/>
          <p:nvPr/>
        </p:nvSpPr>
        <p:spPr>
          <a:xfrm>
            <a:off x="548640" y="1600200"/>
            <a:ext cx="6858000" cy="43434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G-20261013-WA0004.jpg"/>
          <p:cNvPicPr>
            <a:picLocks noChangeAspect="1"/>
          </p:cNvPicPr>
          <p:nvPr/>
        </p:nvPicPr>
        <p:blipFill>
          <a:blip r:embed="rId2"/>
          <a:stretch>
            <a:fillRect/>
          </a:stretch>
        </p:blipFill>
        <p:spPr>
          <a:xfrm>
            <a:off x="713232" y="1926714"/>
            <a:ext cx="6537960" cy="3690371"/>
          </a:xfrm>
          <a:prstGeom prst="rect">
            <a:avLst/>
          </a:prstGeom>
        </p:spPr>
      </p:pic>
      <p:sp>
        <p:nvSpPr>
          <p:cNvPr id="9" name="Rounded Rectangle 8"/>
          <p:cNvSpPr/>
          <p:nvPr/>
        </p:nvSpPr>
        <p:spPr>
          <a:xfrm>
            <a:off x="7680960" y="1691640"/>
            <a:ext cx="3840480" cy="10972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0" y="1691640"/>
            <a:ext cx="64008" cy="1097280"/>
          </a:xfrm>
          <a:prstGeom prst="rect">
            <a:avLst/>
          </a:prstGeom>
          <a:solidFill>
            <a:srgbClr val="3D775B"/>
          </a:solidFill>
          <a:ln>
            <a:solidFill>
              <a:srgbClr val="3D77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1810512"/>
            <a:ext cx="3520440" cy="274320"/>
          </a:xfrm>
          <a:prstGeom prst="rect">
            <a:avLst/>
          </a:prstGeom>
          <a:noFill/>
        </p:spPr>
        <p:txBody>
          <a:bodyPr wrap="none" lIns="54864" rIns="54864" tIns="27432" bIns="27432">
            <a:spAutoFit/>
          </a:bodyPr>
          <a:lstStyle/>
          <a:p>
            <a:pPr>
              <a:defRPr sz="1400" b="1" i="0">
                <a:solidFill>
                  <a:srgbClr val="193934"/>
                </a:solidFill>
                <a:latin typeface="Aptos"/>
              </a:defRPr>
            </a:pPr>
            <a:r>
              <a:t>THE DATA</a:t>
            </a:r>
          </a:p>
        </p:txBody>
      </p:sp>
      <p:sp>
        <p:nvSpPr>
          <p:cNvPr id="12" name="TextBox 11"/>
          <p:cNvSpPr txBox="1"/>
          <p:nvPr/>
        </p:nvSpPr>
        <p:spPr>
          <a:xfrm>
            <a:off x="7863840" y="2148840"/>
            <a:ext cx="3493008" cy="594359"/>
          </a:xfrm>
          <a:prstGeom prst="rect">
            <a:avLst/>
          </a:prstGeom>
          <a:noFill/>
        </p:spPr>
        <p:txBody>
          <a:bodyPr wrap="none" lIns="54864" rIns="54864" tIns="27432" bIns="27432">
            <a:spAutoFit/>
          </a:bodyPr>
          <a:lstStyle/>
          <a:p>
            <a:pPr>
              <a:defRPr sz="1200" b="0" i="0">
                <a:solidFill>
                  <a:srgbClr val="5A6C65"/>
                </a:solidFill>
                <a:latin typeface="Aptos"/>
              </a:defRPr>
            </a:pPr>
            <a:r>
              <a:t>Each row represents a listing or record.</a:t>
            </a:r>
          </a:p>
        </p:txBody>
      </p:sp>
      <p:sp>
        <p:nvSpPr>
          <p:cNvPr id="13" name="Rounded Rectangle 12"/>
          <p:cNvSpPr/>
          <p:nvPr/>
        </p:nvSpPr>
        <p:spPr>
          <a:xfrm>
            <a:off x="7680960" y="2971800"/>
            <a:ext cx="3840480" cy="10972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80960" y="2971800"/>
            <a:ext cx="64008" cy="1097280"/>
          </a:xfrm>
          <a:prstGeom prst="rect">
            <a:avLst/>
          </a:prstGeom>
          <a:solidFill>
            <a:srgbClr val="EC7D62"/>
          </a:solidFill>
          <a:ln>
            <a:solidFill>
              <a:srgbClr val="EC7D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090672"/>
            <a:ext cx="3520440" cy="274320"/>
          </a:xfrm>
          <a:prstGeom prst="rect">
            <a:avLst/>
          </a:prstGeom>
          <a:noFill/>
        </p:spPr>
        <p:txBody>
          <a:bodyPr wrap="none" lIns="54864" rIns="54864" tIns="27432" bIns="27432">
            <a:spAutoFit/>
          </a:bodyPr>
          <a:lstStyle/>
          <a:p>
            <a:pPr>
              <a:defRPr sz="1400" b="1" i="0">
                <a:solidFill>
                  <a:srgbClr val="193934"/>
                </a:solidFill>
                <a:latin typeface="Aptos"/>
              </a:defRPr>
            </a:pPr>
            <a:r>
              <a:t>THE QUESTIONS</a:t>
            </a:r>
          </a:p>
        </p:txBody>
      </p:sp>
      <p:sp>
        <p:nvSpPr>
          <p:cNvPr id="16" name="TextBox 15"/>
          <p:cNvSpPr txBox="1"/>
          <p:nvPr/>
        </p:nvSpPr>
        <p:spPr>
          <a:xfrm>
            <a:off x="7863840" y="3429000"/>
            <a:ext cx="3493008" cy="594359"/>
          </a:xfrm>
          <a:prstGeom prst="rect">
            <a:avLst/>
          </a:prstGeom>
          <a:noFill/>
        </p:spPr>
        <p:txBody>
          <a:bodyPr wrap="none" lIns="54864" rIns="54864" tIns="27432" bIns="27432">
            <a:spAutoFit/>
          </a:bodyPr>
          <a:lstStyle/>
          <a:p>
            <a:pPr>
              <a:defRPr sz="1200" b="0" i="0">
                <a:solidFill>
                  <a:srgbClr val="5A6C65"/>
                </a:solidFill>
                <a:latin typeface="Aptos"/>
              </a:defRPr>
            </a:pPr>
            <a:r>
              <a:t>Where are listings? Which room type dominates? How do price and ratings compare?</a:t>
            </a:r>
          </a:p>
        </p:txBody>
      </p:sp>
      <p:sp>
        <p:nvSpPr>
          <p:cNvPr id="17" name="Rounded Rectangle 16"/>
          <p:cNvSpPr/>
          <p:nvPr/>
        </p:nvSpPr>
        <p:spPr>
          <a:xfrm>
            <a:off x="7680960" y="4251960"/>
            <a:ext cx="3840480" cy="10972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251960"/>
            <a:ext cx="64008" cy="1097280"/>
          </a:xfrm>
          <a:prstGeom prst="rect">
            <a:avLst/>
          </a:prstGeom>
          <a:solidFill>
            <a:srgbClr val="183E69"/>
          </a:solidFill>
          <a:ln>
            <a:solidFill>
              <a:srgbClr val="183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4370832"/>
            <a:ext cx="3520440" cy="274320"/>
          </a:xfrm>
          <a:prstGeom prst="rect">
            <a:avLst/>
          </a:prstGeom>
          <a:noFill/>
        </p:spPr>
        <p:txBody>
          <a:bodyPr wrap="none" lIns="54864" rIns="54864" tIns="27432" bIns="27432">
            <a:spAutoFit/>
          </a:bodyPr>
          <a:lstStyle/>
          <a:p>
            <a:pPr>
              <a:defRPr sz="1400" b="1" i="0">
                <a:solidFill>
                  <a:srgbClr val="193934"/>
                </a:solidFill>
                <a:latin typeface="Aptos"/>
              </a:defRPr>
            </a:pPr>
            <a:r>
              <a:t>THE DECISION</a:t>
            </a:r>
          </a:p>
        </p:txBody>
      </p:sp>
      <p:sp>
        <p:nvSpPr>
          <p:cNvPr id="20" name="TextBox 19"/>
          <p:cNvSpPr txBox="1"/>
          <p:nvPr/>
        </p:nvSpPr>
        <p:spPr>
          <a:xfrm>
            <a:off x="7863840" y="4709160"/>
            <a:ext cx="3493008" cy="594359"/>
          </a:xfrm>
          <a:prstGeom prst="rect">
            <a:avLst/>
          </a:prstGeom>
          <a:noFill/>
        </p:spPr>
        <p:txBody>
          <a:bodyPr wrap="none" lIns="54864" rIns="54864" tIns="27432" bIns="27432">
            <a:spAutoFit/>
          </a:bodyPr>
          <a:lstStyle/>
          <a:p>
            <a:pPr>
              <a:defRPr sz="1200" b="0" i="0">
                <a:solidFill>
                  <a:srgbClr val="5A6C65"/>
                </a:solidFill>
                <a:latin typeface="Aptos"/>
              </a:defRPr>
            </a:pPr>
            <a:r>
              <a:t>Compare supply, pricing and guest experience to guide investigation.</a:t>
            </a:r>
          </a:p>
        </p:txBody>
      </p:sp>
      <p:sp>
        <p:nvSpPr>
          <p:cNvPr id="21" name="TextBox 20"/>
          <p:cNvSpPr txBox="1"/>
          <p:nvPr/>
        </p:nvSpPr>
        <p:spPr>
          <a:xfrm>
            <a:off x="731520" y="6080760"/>
            <a:ext cx="10789920" cy="274320"/>
          </a:xfrm>
          <a:prstGeom prst="rect">
            <a:avLst/>
          </a:prstGeom>
          <a:noFill/>
        </p:spPr>
        <p:txBody>
          <a:bodyPr wrap="none" lIns="54864" rIns="54864" tIns="27432" bIns="27432">
            <a:spAutoFit/>
          </a:bodyPr>
          <a:lstStyle/>
          <a:p>
            <a:pPr>
              <a:defRPr sz="1200" b="1" i="1">
                <a:solidFill>
                  <a:srgbClr val="193934"/>
                </a:solidFill>
                <a:latin typeface="Aptos"/>
              </a:defRPr>
            </a:pPr>
            <a:r>
              <a:t>Say: “Think of this as a mini market research report for short-term stays.”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FF7F1"/>
        </a:solidFill>
        <a:effectLst/>
      </p:bgPr>
    </p:bg>
    <p:spTree>
      <p:nvGrpSpPr>
        <p:cNvPr id="1" name=""/>
        <p:cNvGrpSpPr/>
        <p:nvPr/>
      </p:nvGrpSpPr>
      <p:grpSpPr/>
      <p:sp>
        <p:nvSpPr>
          <p:cNvPr id="2" name="TextBox 1"/>
          <p:cNvSpPr txBox="1"/>
          <p:nvPr/>
        </p:nvSpPr>
        <p:spPr>
          <a:xfrm>
            <a:off x="594360" y="274320"/>
            <a:ext cx="9144000" cy="228600"/>
          </a:xfrm>
          <a:prstGeom prst="rect">
            <a:avLst/>
          </a:prstGeom>
          <a:noFill/>
        </p:spPr>
        <p:txBody>
          <a:bodyPr wrap="none" lIns="54864" rIns="54864" tIns="27432" bIns="27432">
            <a:spAutoFit/>
          </a:bodyPr>
          <a:lstStyle/>
          <a:p>
            <a:pPr>
              <a:defRPr sz="1000" b="1" i="0">
                <a:solidFill>
                  <a:srgbClr val="3D775B"/>
                </a:solidFill>
                <a:latin typeface="Aptos"/>
              </a:defRPr>
            </a:pPr>
            <a:r>
              <a:t>02 / KPI DECODING</a:t>
            </a:r>
          </a:p>
        </p:txBody>
      </p:sp>
      <p:sp>
        <p:nvSpPr>
          <p:cNvPr id="3" name="TextBox 2"/>
          <p:cNvSpPr txBox="1"/>
          <p:nvPr/>
        </p:nvSpPr>
        <p:spPr>
          <a:xfrm>
            <a:off x="594360" y="566928"/>
            <a:ext cx="10972800" cy="502920"/>
          </a:xfrm>
          <a:prstGeom prst="rect">
            <a:avLst/>
          </a:prstGeom>
          <a:noFill/>
        </p:spPr>
        <p:txBody>
          <a:bodyPr wrap="none" lIns="54864" rIns="54864" tIns="27432" bIns="27432">
            <a:spAutoFit/>
          </a:bodyPr>
          <a:lstStyle/>
          <a:p>
            <a:pPr>
              <a:defRPr sz="2700" b="1" i="0">
                <a:solidFill>
                  <a:srgbClr val="193934"/>
                </a:solidFill>
                <a:latin typeface="Aptos"/>
              </a:defRPr>
            </a:pPr>
            <a:r>
              <a:t>The five headline cards — what do they mean?</a:t>
            </a:r>
          </a:p>
        </p:txBody>
      </p:sp>
      <p:sp>
        <p:nvSpPr>
          <p:cNvPr id="4" name="TextBox 3"/>
          <p:cNvSpPr txBox="1"/>
          <p:nvPr/>
        </p:nvSpPr>
        <p:spPr>
          <a:xfrm>
            <a:off x="621792" y="1097280"/>
            <a:ext cx="10972800" cy="320040"/>
          </a:xfrm>
          <a:prstGeom prst="rect">
            <a:avLst/>
          </a:prstGeom>
          <a:noFill/>
        </p:spPr>
        <p:txBody>
          <a:bodyPr wrap="none" lIns="54864" rIns="54864" tIns="27432" bIns="27432">
            <a:spAutoFit/>
          </a:bodyPr>
          <a:lstStyle/>
          <a:p>
            <a:pPr>
              <a:defRPr sz="1200" b="0" i="0">
                <a:solidFill>
                  <a:srgbClr val="5A6C65"/>
                </a:solidFill>
                <a:latin typeface="Aptos"/>
              </a:defRPr>
            </a:pPr>
            <a:r>
              <a:t>KPIs are quick signals. Always check the field name and aggregation.</a:t>
            </a:r>
          </a:p>
        </p:txBody>
      </p:sp>
      <p:sp>
        <p:nvSpPr>
          <p:cNvPr id="5" name="TextBox 4"/>
          <p:cNvSpPr txBox="1"/>
          <p:nvPr/>
        </p:nvSpPr>
        <p:spPr>
          <a:xfrm>
            <a:off x="11109960" y="274320"/>
            <a:ext cx="457200" cy="274320"/>
          </a:xfrm>
          <a:prstGeom prst="rect">
            <a:avLst/>
          </a:prstGeom>
          <a:noFill/>
        </p:spPr>
        <p:txBody>
          <a:bodyPr wrap="none" lIns="54864" rIns="54864" tIns="27432" bIns="27432">
            <a:spAutoFit/>
          </a:bodyPr>
          <a:lstStyle/>
          <a:p>
            <a:pPr algn="r">
              <a:defRPr sz="1100" b="1" i="0">
                <a:solidFill>
                  <a:srgbClr val="3D775B"/>
                </a:solidFill>
                <a:latin typeface="Aptos"/>
              </a:defRPr>
            </a:pPr>
            <a:r>
              <a:t>03</a:t>
            </a:r>
          </a:p>
        </p:txBody>
      </p:sp>
      <p:sp>
        <p:nvSpPr>
          <p:cNvPr id="6" name="TextBox 5"/>
          <p:cNvSpPr txBox="1"/>
          <p:nvPr/>
        </p:nvSpPr>
        <p:spPr>
          <a:xfrm>
            <a:off x="594360" y="6510528"/>
            <a:ext cx="10972800" cy="182880"/>
          </a:xfrm>
          <a:prstGeom prst="rect">
            <a:avLst/>
          </a:prstGeom>
          <a:noFill/>
        </p:spPr>
        <p:txBody>
          <a:bodyPr wrap="none" lIns="54864" rIns="54864" tIns="27432" bIns="27432">
            <a:spAutoFit/>
          </a:bodyPr>
          <a:lstStyle/>
          <a:p>
            <a:pPr>
              <a:defRPr sz="800" b="1" i="0">
                <a:solidFill>
                  <a:srgbClr val="5A6C65"/>
                </a:solidFill>
                <a:latin typeface="Aptos"/>
              </a:defRPr>
            </a:pPr>
            <a:r>
              <a:t>AIRBNB ANALYTICS  •  CLASSROOM WALKTHROUGH</a:t>
            </a:r>
          </a:p>
        </p:txBody>
      </p:sp>
      <p:sp>
        <p:nvSpPr>
          <p:cNvPr id="7" name="Rounded Rectangle 6"/>
          <p:cNvSpPr/>
          <p:nvPr/>
        </p:nvSpPr>
        <p:spPr>
          <a:xfrm>
            <a:off x="594360" y="1645920"/>
            <a:ext cx="3456432" cy="1664208"/>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58952" y="1810512"/>
            <a:ext cx="411480" cy="411480"/>
          </a:xfrm>
          <a:prstGeom prst="ellipse">
            <a:avLst/>
          </a:prstGeom>
          <a:solidFill>
            <a:srgbClr val="EC7D62"/>
          </a:solidFill>
          <a:ln>
            <a:solidFill>
              <a:srgbClr val="EC7D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07592" y="1764792"/>
            <a:ext cx="1371600" cy="384048"/>
          </a:xfrm>
          <a:prstGeom prst="rect">
            <a:avLst/>
          </a:prstGeom>
          <a:noFill/>
        </p:spPr>
        <p:txBody>
          <a:bodyPr wrap="none" lIns="54864" rIns="54864" tIns="27432" bIns="27432">
            <a:spAutoFit/>
          </a:bodyPr>
          <a:lstStyle/>
          <a:p>
            <a:pPr>
              <a:defRPr sz="2300" b="1" i="0">
                <a:solidFill>
                  <a:srgbClr val="193934"/>
                </a:solidFill>
                <a:latin typeface="Aptos"/>
              </a:defRPr>
            </a:pPr>
            <a:r>
              <a:t>30K</a:t>
            </a:r>
          </a:p>
        </p:txBody>
      </p:sp>
      <p:sp>
        <p:nvSpPr>
          <p:cNvPr id="10" name="TextBox 9"/>
          <p:cNvSpPr txBox="1"/>
          <p:nvPr/>
        </p:nvSpPr>
        <p:spPr>
          <a:xfrm>
            <a:off x="777240" y="2304288"/>
            <a:ext cx="3063240" cy="237744"/>
          </a:xfrm>
          <a:prstGeom prst="rect">
            <a:avLst/>
          </a:prstGeom>
          <a:noFill/>
        </p:spPr>
        <p:txBody>
          <a:bodyPr wrap="none" lIns="54864" rIns="54864" tIns="27432" bIns="27432">
            <a:spAutoFit/>
          </a:bodyPr>
          <a:lstStyle/>
          <a:p>
            <a:pPr>
              <a:defRPr sz="1200" b="1" i="0">
                <a:solidFill>
                  <a:srgbClr val="193934"/>
                </a:solidFill>
                <a:latin typeface="Aptos"/>
              </a:defRPr>
            </a:pPr>
            <a:r>
              <a:t>Sum of listing_id</a:t>
            </a:r>
          </a:p>
        </p:txBody>
      </p:sp>
      <p:sp>
        <p:nvSpPr>
          <p:cNvPr id="11" name="TextBox 10"/>
          <p:cNvSpPr txBox="1"/>
          <p:nvPr/>
        </p:nvSpPr>
        <p:spPr>
          <a:xfrm>
            <a:off x="777240" y="2578608"/>
            <a:ext cx="3063240" cy="457200"/>
          </a:xfrm>
          <a:prstGeom prst="rect">
            <a:avLst/>
          </a:prstGeom>
          <a:noFill/>
        </p:spPr>
        <p:txBody>
          <a:bodyPr wrap="none" lIns="54864" rIns="54864" tIns="27432" bIns="27432">
            <a:spAutoFit/>
          </a:bodyPr>
          <a:lstStyle/>
          <a:p>
            <a:pPr>
              <a:defRPr sz="1000" b="0" i="0">
                <a:solidFill>
                  <a:srgbClr val="5A6C65"/>
                </a:solidFill>
                <a:latin typeface="Aptos"/>
              </a:defRPr>
            </a:pPr>
            <a:r>
              <a:t>Adds ID numbers together; not a meaningful business total.</a:t>
            </a:r>
          </a:p>
        </p:txBody>
      </p:sp>
      <p:sp>
        <p:nvSpPr>
          <p:cNvPr id="12" name="Rounded Rectangle 11"/>
          <p:cNvSpPr/>
          <p:nvPr/>
        </p:nvSpPr>
        <p:spPr>
          <a:xfrm>
            <a:off x="4370832" y="1645920"/>
            <a:ext cx="3456432" cy="1664208"/>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35424" y="1810512"/>
            <a:ext cx="411480" cy="411480"/>
          </a:xfrm>
          <a:prstGeom prst="ellipse">
            <a:avLst/>
          </a:prstGeom>
          <a:solidFill>
            <a:srgbClr val="3D775B"/>
          </a:solidFill>
          <a:ln>
            <a:solidFill>
              <a:srgbClr val="3D77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4064" y="1764792"/>
            <a:ext cx="1371600" cy="384048"/>
          </a:xfrm>
          <a:prstGeom prst="rect">
            <a:avLst/>
          </a:prstGeom>
          <a:noFill/>
        </p:spPr>
        <p:txBody>
          <a:bodyPr wrap="none" lIns="54864" rIns="54864" tIns="27432" bIns="27432">
            <a:spAutoFit/>
          </a:bodyPr>
          <a:lstStyle/>
          <a:p>
            <a:pPr>
              <a:defRPr sz="2300" b="1" i="0">
                <a:solidFill>
                  <a:srgbClr val="193934"/>
                </a:solidFill>
                <a:latin typeface="Aptos"/>
              </a:defRPr>
            </a:pPr>
            <a:r>
              <a:t>30</a:t>
            </a:r>
          </a:p>
        </p:txBody>
      </p:sp>
      <p:sp>
        <p:nvSpPr>
          <p:cNvPr id="15" name="TextBox 14"/>
          <p:cNvSpPr txBox="1"/>
          <p:nvPr/>
        </p:nvSpPr>
        <p:spPr>
          <a:xfrm>
            <a:off x="4553712" y="2304288"/>
            <a:ext cx="3063240" cy="237744"/>
          </a:xfrm>
          <a:prstGeom prst="rect">
            <a:avLst/>
          </a:prstGeom>
          <a:noFill/>
        </p:spPr>
        <p:txBody>
          <a:bodyPr wrap="none" lIns="54864" rIns="54864" tIns="27432" bIns="27432">
            <a:spAutoFit/>
          </a:bodyPr>
          <a:lstStyle/>
          <a:p>
            <a:pPr>
              <a:defRPr sz="1200" b="1" i="0">
                <a:solidFill>
                  <a:srgbClr val="193934"/>
                </a:solidFill>
                <a:latin typeface="Aptos"/>
              </a:defRPr>
            </a:pPr>
            <a:r>
              <a:t>Count of host…</a:t>
            </a:r>
          </a:p>
        </p:txBody>
      </p:sp>
      <p:sp>
        <p:nvSpPr>
          <p:cNvPr id="16" name="TextBox 15"/>
          <p:cNvSpPr txBox="1"/>
          <p:nvPr/>
        </p:nvSpPr>
        <p:spPr>
          <a:xfrm>
            <a:off x="4553712" y="2578608"/>
            <a:ext cx="3063240" cy="457200"/>
          </a:xfrm>
          <a:prstGeom prst="rect">
            <a:avLst/>
          </a:prstGeom>
          <a:noFill/>
        </p:spPr>
        <p:txBody>
          <a:bodyPr wrap="none" lIns="54864" rIns="54864" tIns="27432" bIns="27432">
            <a:spAutoFit/>
          </a:bodyPr>
          <a:lstStyle/>
          <a:p>
            <a:pPr>
              <a:defRPr sz="1000" b="0" i="0">
                <a:solidFill>
                  <a:srgbClr val="5A6C65"/>
                </a:solidFill>
                <a:latin typeface="Aptos"/>
              </a:defRPr>
            </a:pPr>
            <a:r>
              <a:t>Count of records in a host-related field; label is cut off.</a:t>
            </a:r>
          </a:p>
        </p:txBody>
      </p:sp>
      <p:sp>
        <p:nvSpPr>
          <p:cNvPr id="17" name="Rounded Rectangle 16"/>
          <p:cNvSpPr/>
          <p:nvPr/>
        </p:nvSpPr>
        <p:spPr>
          <a:xfrm>
            <a:off x="8147304" y="1645920"/>
            <a:ext cx="3456432" cy="1664208"/>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11896" y="1810512"/>
            <a:ext cx="411480" cy="411480"/>
          </a:xfrm>
          <a:prstGeom prst="ellipse">
            <a:avLst/>
          </a:prstGeom>
          <a:solidFill>
            <a:srgbClr val="183E69"/>
          </a:solidFill>
          <a:ln>
            <a:solidFill>
              <a:srgbClr val="183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0536" y="1764792"/>
            <a:ext cx="1371600" cy="384048"/>
          </a:xfrm>
          <a:prstGeom prst="rect">
            <a:avLst/>
          </a:prstGeom>
          <a:noFill/>
        </p:spPr>
        <p:txBody>
          <a:bodyPr wrap="none" lIns="54864" rIns="54864" tIns="27432" bIns="27432">
            <a:spAutoFit/>
          </a:bodyPr>
          <a:lstStyle/>
          <a:p>
            <a:pPr>
              <a:defRPr sz="2300" b="1" i="0">
                <a:solidFill>
                  <a:srgbClr val="193934"/>
                </a:solidFill>
                <a:latin typeface="Aptos"/>
              </a:defRPr>
            </a:pPr>
            <a:r>
              <a:t>4K</a:t>
            </a:r>
          </a:p>
        </p:txBody>
      </p:sp>
      <p:sp>
        <p:nvSpPr>
          <p:cNvPr id="20" name="TextBox 19"/>
          <p:cNvSpPr txBox="1"/>
          <p:nvPr/>
        </p:nvSpPr>
        <p:spPr>
          <a:xfrm>
            <a:off x="8330183" y="2304288"/>
            <a:ext cx="3063240" cy="237744"/>
          </a:xfrm>
          <a:prstGeom prst="rect">
            <a:avLst/>
          </a:prstGeom>
          <a:noFill/>
        </p:spPr>
        <p:txBody>
          <a:bodyPr wrap="none" lIns="54864" rIns="54864" tIns="27432" bIns="27432">
            <a:spAutoFit/>
          </a:bodyPr>
          <a:lstStyle/>
          <a:p>
            <a:pPr>
              <a:defRPr sz="1200" b="1" i="0">
                <a:solidFill>
                  <a:srgbClr val="193934"/>
                </a:solidFill>
                <a:latin typeface="Aptos"/>
              </a:defRPr>
            </a:pPr>
            <a:r>
              <a:t>Sum of price…</a:t>
            </a:r>
          </a:p>
        </p:txBody>
      </p:sp>
      <p:sp>
        <p:nvSpPr>
          <p:cNvPr id="21" name="TextBox 20"/>
          <p:cNvSpPr txBox="1"/>
          <p:nvPr/>
        </p:nvSpPr>
        <p:spPr>
          <a:xfrm>
            <a:off x="8330183" y="2578608"/>
            <a:ext cx="3063240" cy="457200"/>
          </a:xfrm>
          <a:prstGeom prst="rect">
            <a:avLst/>
          </a:prstGeom>
          <a:noFill/>
        </p:spPr>
        <p:txBody>
          <a:bodyPr wrap="none" lIns="54864" rIns="54864" tIns="27432" bIns="27432">
            <a:spAutoFit/>
          </a:bodyPr>
          <a:lstStyle/>
          <a:p>
            <a:pPr>
              <a:defRPr sz="1000" b="0" i="0">
                <a:solidFill>
                  <a:srgbClr val="5A6C65"/>
                </a:solidFill>
                <a:latin typeface="Aptos"/>
              </a:defRPr>
            </a:pPr>
            <a:r>
              <a:t>Total of the selected price field, if aggregation is correct.</a:t>
            </a:r>
          </a:p>
        </p:txBody>
      </p:sp>
      <p:sp>
        <p:nvSpPr>
          <p:cNvPr id="22" name="Rounded Rectangle 21"/>
          <p:cNvSpPr/>
          <p:nvPr/>
        </p:nvSpPr>
        <p:spPr>
          <a:xfrm>
            <a:off x="2487168" y="3657600"/>
            <a:ext cx="3456432" cy="1664208"/>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651760" y="3822191"/>
            <a:ext cx="411480" cy="411480"/>
          </a:xfrm>
          <a:prstGeom prst="ellipse">
            <a:avLst/>
          </a:prstGeom>
          <a:solidFill>
            <a:srgbClr val="EABE5F"/>
          </a:solidFill>
          <a:ln>
            <a:solidFill>
              <a:srgbClr val="EABE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0" y="3776472"/>
            <a:ext cx="1371600" cy="384048"/>
          </a:xfrm>
          <a:prstGeom prst="rect">
            <a:avLst/>
          </a:prstGeom>
          <a:noFill/>
        </p:spPr>
        <p:txBody>
          <a:bodyPr wrap="none" lIns="54864" rIns="54864" tIns="27432" bIns="27432">
            <a:spAutoFit/>
          </a:bodyPr>
          <a:lstStyle/>
          <a:p>
            <a:pPr>
              <a:defRPr sz="2300" b="1" i="0">
                <a:solidFill>
                  <a:srgbClr val="193934"/>
                </a:solidFill>
                <a:latin typeface="Aptos"/>
              </a:defRPr>
            </a:pPr>
            <a:r>
              <a:t>30</a:t>
            </a:r>
          </a:p>
        </p:txBody>
      </p:sp>
      <p:sp>
        <p:nvSpPr>
          <p:cNvPr id="25" name="TextBox 24"/>
          <p:cNvSpPr txBox="1"/>
          <p:nvPr/>
        </p:nvSpPr>
        <p:spPr>
          <a:xfrm>
            <a:off x="2670048" y="4315968"/>
            <a:ext cx="3063240" cy="237744"/>
          </a:xfrm>
          <a:prstGeom prst="rect">
            <a:avLst/>
          </a:prstGeom>
          <a:noFill/>
        </p:spPr>
        <p:txBody>
          <a:bodyPr wrap="none" lIns="54864" rIns="54864" tIns="27432" bIns="27432">
            <a:spAutoFit/>
          </a:bodyPr>
          <a:lstStyle/>
          <a:p>
            <a:pPr>
              <a:defRPr sz="1200" b="1" i="0">
                <a:solidFill>
                  <a:srgbClr val="193934"/>
                </a:solidFill>
                <a:latin typeface="Aptos"/>
              </a:defRPr>
            </a:pPr>
            <a:r>
              <a:t>Count of listings…</a:t>
            </a:r>
          </a:p>
        </p:txBody>
      </p:sp>
      <p:sp>
        <p:nvSpPr>
          <p:cNvPr id="26" name="TextBox 25"/>
          <p:cNvSpPr txBox="1"/>
          <p:nvPr/>
        </p:nvSpPr>
        <p:spPr>
          <a:xfrm>
            <a:off x="2670048" y="4590288"/>
            <a:ext cx="3063240" cy="457200"/>
          </a:xfrm>
          <a:prstGeom prst="rect">
            <a:avLst/>
          </a:prstGeom>
          <a:noFill/>
        </p:spPr>
        <p:txBody>
          <a:bodyPr wrap="none" lIns="54864" rIns="54864" tIns="27432" bIns="27432">
            <a:spAutoFit/>
          </a:bodyPr>
          <a:lstStyle/>
          <a:p>
            <a:pPr>
              <a:defRPr sz="1000" b="0" i="0">
                <a:solidFill>
                  <a:srgbClr val="5A6C65"/>
                </a:solidFill>
                <a:latin typeface="Aptos"/>
              </a:defRPr>
            </a:pPr>
            <a:r>
              <a:t>Likely counts non-empty listing records.</a:t>
            </a:r>
          </a:p>
        </p:txBody>
      </p:sp>
      <p:sp>
        <p:nvSpPr>
          <p:cNvPr id="27" name="Rounded Rectangle 26"/>
          <p:cNvSpPr/>
          <p:nvPr/>
        </p:nvSpPr>
        <p:spPr>
          <a:xfrm>
            <a:off x="6263640" y="3657600"/>
            <a:ext cx="3456432" cy="1664208"/>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428231" y="3822191"/>
            <a:ext cx="411480" cy="411480"/>
          </a:xfrm>
          <a:prstGeom prst="ellipse">
            <a:avLst/>
          </a:prstGeom>
          <a:solidFill>
            <a:srgbClr val="3D775B"/>
          </a:solidFill>
          <a:ln>
            <a:solidFill>
              <a:srgbClr val="3D77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76872" y="3776472"/>
            <a:ext cx="1371600" cy="384048"/>
          </a:xfrm>
          <a:prstGeom prst="rect">
            <a:avLst/>
          </a:prstGeom>
          <a:noFill/>
        </p:spPr>
        <p:txBody>
          <a:bodyPr wrap="none" lIns="54864" rIns="54864" tIns="27432" bIns="27432">
            <a:spAutoFit/>
          </a:bodyPr>
          <a:lstStyle/>
          <a:p>
            <a:pPr>
              <a:defRPr sz="2300" b="1" i="0">
                <a:solidFill>
                  <a:srgbClr val="193934"/>
                </a:solidFill>
                <a:latin typeface="Aptos"/>
              </a:defRPr>
            </a:pPr>
            <a:r>
              <a:t>125…</a:t>
            </a:r>
          </a:p>
        </p:txBody>
      </p:sp>
      <p:sp>
        <p:nvSpPr>
          <p:cNvPr id="30" name="TextBox 29"/>
          <p:cNvSpPr txBox="1"/>
          <p:nvPr/>
        </p:nvSpPr>
        <p:spPr>
          <a:xfrm>
            <a:off x="6446520" y="4315968"/>
            <a:ext cx="3063240" cy="237744"/>
          </a:xfrm>
          <a:prstGeom prst="rect">
            <a:avLst/>
          </a:prstGeom>
          <a:noFill/>
        </p:spPr>
        <p:txBody>
          <a:bodyPr wrap="none" lIns="54864" rIns="54864" tIns="27432" bIns="27432">
            <a:spAutoFit/>
          </a:bodyPr>
          <a:lstStyle/>
          <a:p>
            <a:pPr>
              <a:defRPr sz="1200" b="1" i="0">
                <a:solidFill>
                  <a:srgbClr val="193934"/>
                </a:solidFill>
                <a:latin typeface="Aptos"/>
              </a:defRPr>
            </a:pPr>
            <a:r>
              <a:t>Average of …</a:t>
            </a:r>
          </a:p>
        </p:txBody>
      </p:sp>
      <p:sp>
        <p:nvSpPr>
          <p:cNvPr id="31" name="TextBox 30"/>
          <p:cNvSpPr txBox="1"/>
          <p:nvPr/>
        </p:nvSpPr>
        <p:spPr>
          <a:xfrm>
            <a:off x="6446520" y="4590288"/>
            <a:ext cx="3063240" cy="457200"/>
          </a:xfrm>
          <a:prstGeom prst="rect">
            <a:avLst/>
          </a:prstGeom>
          <a:noFill/>
        </p:spPr>
        <p:txBody>
          <a:bodyPr wrap="none" lIns="54864" rIns="54864" tIns="27432" bIns="27432">
            <a:spAutoFit/>
          </a:bodyPr>
          <a:lstStyle/>
          <a:p>
            <a:pPr>
              <a:defRPr sz="1000" b="0" i="0">
                <a:solidFill>
                  <a:srgbClr val="5A6C65"/>
                </a:solidFill>
                <a:latin typeface="Aptos"/>
              </a:defRPr>
            </a:pPr>
            <a:r>
              <a:t>An average, but the field name is truncated.</a:t>
            </a:r>
          </a:p>
        </p:txBody>
      </p:sp>
      <p:sp>
        <p:nvSpPr>
          <p:cNvPr id="32" name="TextBox 31"/>
          <p:cNvSpPr txBox="1"/>
          <p:nvPr/>
        </p:nvSpPr>
        <p:spPr>
          <a:xfrm>
            <a:off x="685800" y="5806440"/>
            <a:ext cx="10789920" cy="365760"/>
          </a:xfrm>
          <a:prstGeom prst="rect">
            <a:avLst/>
          </a:prstGeom>
          <a:noFill/>
        </p:spPr>
        <p:txBody>
          <a:bodyPr wrap="none" lIns="54864" rIns="54864" tIns="27432" bIns="27432">
            <a:spAutoFit/>
          </a:bodyPr>
          <a:lstStyle/>
          <a:p>
            <a:pPr>
              <a:defRPr sz="1300" b="1" i="0">
                <a:solidFill>
                  <a:srgbClr val="EC7D62"/>
                </a:solidFill>
                <a:latin typeface="Aptos"/>
              </a:defRPr>
            </a:pPr>
            <a:r>
              <a:t>Tip: don’t guess a cut-off label. Explain what is visible, then say what you would verify.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FF7F1"/>
        </a:solidFill>
        <a:effectLst/>
      </p:bgPr>
    </p:bg>
    <p:spTree>
      <p:nvGrpSpPr>
        <p:cNvPr id="1" name=""/>
        <p:cNvGrpSpPr/>
        <p:nvPr/>
      </p:nvGrpSpPr>
      <p:grpSpPr/>
      <p:sp>
        <p:nvSpPr>
          <p:cNvPr id="2" name="TextBox 1"/>
          <p:cNvSpPr txBox="1"/>
          <p:nvPr/>
        </p:nvSpPr>
        <p:spPr>
          <a:xfrm>
            <a:off x="594360" y="274320"/>
            <a:ext cx="9144000" cy="228600"/>
          </a:xfrm>
          <a:prstGeom prst="rect">
            <a:avLst/>
          </a:prstGeom>
          <a:noFill/>
        </p:spPr>
        <p:txBody>
          <a:bodyPr wrap="none" lIns="54864" rIns="54864" tIns="27432" bIns="27432">
            <a:spAutoFit/>
          </a:bodyPr>
          <a:lstStyle/>
          <a:p>
            <a:pPr>
              <a:defRPr sz="1000" b="1" i="0">
                <a:solidFill>
                  <a:srgbClr val="3D775B"/>
                </a:solidFill>
                <a:latin typeface="Aptos"/>
              </a:defRPr>
            </a:pPr>
            <a:r>
              <a:t>03 / CHART 1</a:t>
            </a:r>
          </a:p>
        </p:txBody>
      </p:sp>
      <p:sp>
        <p:nvSpPr>
          <p:cNvPr id="3" name="TextBox 2"/>
          <p:cNvSpPr txBox="1"/>
          <p:nvPr/>
        </p:nvSpPr>
        <p:spPr>
          <a:xfrm>
            <a:off x="594360" y="566928"/>
            <a:ext cx="10972800" cy="502920"/>
          </a:xfrm>
          <a:prstGeom prst="rect">
            <a:avLst/>
          </a:prstGeom>
          <a:noFill/>
        </p:spPr>
        <p:txBody>
          <a:bodyPr wrap="none" lIns="54864" rIns="54864" tIns="27432" bIns="27432">
            <a:spAutoFit/>
          </a:bodyPr>
          <a:lstStyle/>
          <a:p>
            <a:pPr>
              <a:defRPr sz="2700" b="1" i="0">
                <a:solidFill>
                  <a:srgbClr val="193934"/>
                </a:solidFill>
                <a:latin typeface="Aptos"/>
              </a:defRPr>
            </a:pPr>
            <a:r>
              <a:t>Room type mix: what kind of stays are listed?</a:t>
            </a:r>
          </a:p>
        </p:txBody>
      </p:sp>
      <p:sp>
        <p:nvSpPr>
          <p:cNvPr id="4" name="TextBox 3"/>
          <p:cNvSpPr txBox="1"/>
          <p:nvPr/>
        </p:nvSpPr>
        <p:spPr>
          <a:xfrm>
            <a:off x="621792" y="1097280"/>
            <a:ext cx="10972800" cy="320040"/>
          </a:xfrm>
          <a:prstGeom prst="rect">
            <a:avLst/>
          </a:prstGeom>
          <a:noFill/>
        </p:spPr>
        <p:txBody>
          <a:bodyPr wrap="none" lIns="54864" rIns="54864" tIns="27432" bIns="27432">
            <a:spAutoFit/>
          </a:bodyPr>
          <a:lstStyle/>
          <a:p>
            <a:pPr>
              <a:defRPr sz="1200" b="0" i="0">
                <a:solidFill>
                  <a:srgbClr val="5A6C65"/>
                </a:solidFill>
                <a:latin typeface="Aptos"/>
              </a:defRPr>
            </a:pPr>
            <a:r>
              <a:t>The pie chart splits the total of listing_id by room_type.</a:t>
            </a:r>
          </a:p>
        </p:txBody>
      </p:sp>
      <p:sp>
        <p:nvSpPr>
          <p:cNvPr id="5" name="TextBox 4"/>
          <p:cNvSpPr txBox="1"/>
          <p:nvPr/>
        </p:nvSpPr>
        <p:spPr>
          <a:xfrm>
            <a:off x="11109960" y="274320"/>
            <a:ext cx="457200" cy="274320"/>
          </a:xfrm>
          <a:prstGeom prst="rect">
            <a:avLst/>
          </a:prstGeom>
          <a:noFill/>
        </p:spPr>
        <p:txBody>
          <a:bodyPr wrap="none" lIns="54864" rIns="54864" tIns="27432" bIns="27432">
            <a:spAutoFit/>
          </a:bodyPr>
          <a:lstStyle/>
          <a:p>
            <a:pPr algn="r">
              <a:defRPr sz="1100" b="1" i="0">
                <a:solidFill>
                  <a:srgbClr val="3D775B"/>
                </a:solidFill>
                <a:latin typeface="Aptos"/>
              </a:defRPr>
            </a:pPr>
            <a:r>
              <a:t>04</a:t>
            </a:r>
          </a:p>
        </p:txBody>
      </p:sp>
      <p:sp>
        <p:nvSpPr>
          <p:cNvPr id="6" name="TextBox 5"/>
          <p:cNvSpPr txBox="1"/>
          <p:nvPr/>
        </p:nvSpPr>
        <p:spPr>
          <a:xfrm>
            <a:off x="594360" y="6510528"/>
            <a:ext cx="10972800" cy="182880"/>
          </a:xfrm>
          <a:prstGeom prst="rect">
            <a:avLst/>
          </a:prstGeom>
          <a:noFill/>
        </p:spPr>
        <p:txBody>
          <a:bodyPr wrap="none" lIns="54864" rIns="54864" tIns="27432" bIns="27432">
            <a:spAutoFit/>
          </a:bodyPr>
          <a:lstStyle/>
          <a:p>
            <a:pPr>
              <a:defRPr sz="800" b="1" i="0">
                <a:solidFill>
                  <a:srgbClr val="5A6C65"/>
                </a:solidFill>
                <a:latin typeface="Aptos"/>
              </a:defRPr>
            </a:pPr>
            <a:r>
              <a:t>AIRBNB ANALYTICS  •  CLASSROOM WALKTHROUGH</a:t>
            </a:r>
          </a:p>
        </p:txBody>
      </p:sp>
      <p:graphicFrame>
        <p:nvGraphicFramePr>
          <p:cNvPr id="7" name="Chart 6"/>
          <p:cNvGraphicFramePr>
            <a:graphicFrameLocks noGrp="1"/>
          </p:cNvGraphicFramePr>
          <p:nvPr/>
        </p:nvGraphicFramePr>
        <p:xfrm>
          <a:off x="594360" y="1645920"/>
          <a:ext cx="3977639" cy="3931920"/>
        </p:xfrm>
        <a:graphic>
          <a:graphicData uri="http://schemas.openxmlformats.org/drawingml/2006/chart">
            <c:chart xmlns:c="http://schemas.openxmlformats.org/drawingml/2006/chart" r:id="rId2"/>
          </a:graphicData>
        </a:graphic>
      </p:graphicFrame>
      <p:sp>
        <p:nvSpPr>
          <p:cNvPr id="8" name="Rounded Rectangle 7"/>
          <p:cNvSpPr/>
          <p:nvPr/>
        </p:nvSpPr>
        <p:spPr>
          <a:xfrm>
            <a:off x="4800600" y="1737360"/>
            <a:ext cx="2971800" cy="12344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00600" y="1737360"/>
            <a:ext cx="64008" cy="1234440"/>
          </a:xfrm>
          <a:prstGeom prst="rect">
            <a:avLst/>
          </a:prstGeom>
          <a:solidFill>
            <a:srgbClr val="3D775B"/>
          </a:solidFill>
          <a:ln>
            <a:solidFill>
              <a:srgbClr val="3D77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83480" y="1856231"/>
            <a:ext cx="2651760" cy="274320"/>
          </a:xfrm>
          <a:prstGeom prst="rect">
            <a:avLst/>
          </a:prstGeom>
          <a:noFill/>
        </p:spPr>
        <p:txBody>
          <a:bodyPr wrap="none" lIns="54864" rIns="54864" tIns="27432" bIns="27432">
            <a:spAutoFit/>
          </a:bodyPr>
          <a:lstStyle/>
          <a:p>
            <a:pPr>
              <a:defRPr sz="1400" b="1" i="0">
                <a:solidFill>
                  <a:srgbClr val="193934"/>
                </a:solidFill>
                <a:latin typeface="Aptos"/>
              </a:defRPr>
            </a:pPr>
            <a:r>
              <a:t>ENTIRE HOME • ~47%</a:t>
            </a:r>
          </a:p>
        </p:txBody>
      </p:sp>
      <p:sp>
        <p:nvSpPr>
          <p:cNvPr id="11" name="TextBox 10"/>
          <p:cNvSpPr txBox="1"/>
          <p:nvPr/>
        </p:nvSpPr>
        <p:spPr>
          <a:xfrm>
            <a:off x="4983480" y="2194560"/>
            <a:ext cx="2624328" cy="731520"/>
          </a:xfrm>
          <a:prstGeom prst="rect">
            <a:avLst/>
          </a:prstGeom>
          <a:noFill/>
        </p:spPr>
        <p:txBody>
          <a:bodyPr wrap="none" lIns="54864" rIns="54864" tIns="27432" bIns="27432">
            <a:spAutoFit/>
          </a:bodyPr>
          <a:lstStyle/>
          <a:p>
            <a:pPr>
              <a:defRPr sz="1200" b="0" i="0">
                <a:solidFill>
                  <a:srgbClr val="5A6C65"/>
                </a:solidFill>
                <a:latin typeface="Aptos"/>
              </a:defRPr>
            </a:pPr>
            <a:r>
              <a:t>Largest segment in this view; entire-place stays form the biggest group.</a:t>
            </a:r>
          </a:p>
        </p:txBody>
      </p:sp>
      <p:sp>
        <p:nvSpPr>
          <p:cNvPr id="12" name="Rounded Rectangle 11"/>
          <p:cNvSpPr/>
          <p:nvPr/>
        </p:nvSpPr>
        <p:spPr>
          <a:xfrm>
            <a:off x="8046720" y="1737360"/>
            <a:ext cx="3429000" cy="12344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737360"/>
            <a:ext cx="64008" cy="1234440"/>
          </a:xfrm>
          <a:prstGeom prst="rect">
            <a:avLst/>
          </a:prstGeom>
          <a:solidFill>
            <a:srgbClr val="B7D8C3"/>
          </a:solidFill>
          <a:ln>
            <a:solidFill>
              <a:srgbClr val="B7D8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856231"/>
            <a:ext cx="3108960" cy="274320"/>
          </a:xfrm>
          <a:prstGeom prst="rect">
            <a:avLst/>
          </a:prstGeom>
          <a:noFill/>
        </p:spPr>
        <p:txBody>
          <a:bodyPr wrap="none" lIns="54864" rIns="54864" tIns="27432" bIns="27432">
            <a:spAutoFit/>
          </a:bodyPr>
          <a:lstStyle/>
          <a:p>
            <a:pPr>
              <a:defRPr sz="1400" b="1" i="0">
                <a:solidFill>
                  <a:srgbClr val="193934"/>
                </a:solidFill>
                <a:latin typeface="Aptos"/>
              </a:defRPr>
            </a:pPr>
            <a:r>
              <a:t>PRIVATE ROOM • ~43%</a:t>
            </a:r>
          </a:p>
        </p:txBody>
      </p:sp>
      <p:sp>
        <p:nvSpPr>
          <p:cNvPr id="15" name="TextBox 14"/>
          <p:cNvSpPr txBox="1"/>
          <p:nvPr/>
        </p:nvSpPr>
        <p:spPr>
          <a:xfrm>
            <a:off x="8229600" y="2194560"/>
            <a:ext cx="3081528" cy="731520"/>
          </a:xfrm>
          <a:prstGeom prst="rect">
            <a:avLst/>
          </a:prstGeom>
          <a:noFill/>
        </p:spPr>
        <p:txBody>
          <a:bodyPr wrap="none" lIns="54864" rIns="54864" tIns="27432" bIns="27432">
            <a:spAutoFit/>
          </a:bodyPr>
          <a:lstStyle/>
          <a:p>
            <a:pPr>
              <a:defRPr sz="1200" b="0" i="0">
                <a:solidFill>
                  <a:srgbClr val="5A6C65"/>
                </a:solidFill>
                <a:latin typeface="Aptos"/>
              </a:defRPr>
            </a:pPr>
            <a:r>
              <a:t>Almost as large as entire homes — another major guest option.</a:t>
            </a:r>
          </a:p>
        </p:txBody>
      </p:sp>
      <p:sp>
        <p:nvSpPr>
          <p:cNvPr id="16" name="Rounded Rectangle 15"/>
          <p:cNvSpPr/>
          <p:nvPr/>
        </p:nvSpPr>
        <p:spPr>
          <a:xfrm>
            <a:off x="4800600" y="3246120"/>
            <a:ext cx="2971800" cy="12344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600" y="3246120"/>
            <a:ext cx="64008" cy="1234440"/>
          </a:xfrm>
          <a:prstGeom prst="rect">
            <a:avLst/>
          </a:prstGeom>
          <a:solidFill>
            <a:srgbClr val="183E69"/>
          </a:solidFill>
          <a:ln>
            <a:solidFill>
              <a:srgbClr val="183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83480" y="3364991"/>
            <a:ext cx="2651760" cy="274320"/>
          </a:xfrm>
          <a:prstGeom prst="rect">
            <a:avLst/>
          </a:prstGeom>
          <a:noFill/>
        </p:spPr>
        <p:txBody>
          <a:bodyPr wrap="none" lIns="54864" rIns="54864" tIns="27432" bIns="27432">
            <a:spAutoFit/>
          </a:bodyPr>
          <a:lstStyle/>
          <a:p>
            <a:pPr>
              <a:defRPr sz="1400" b="1" i="0">
                <a:solidFill>
                  <a:srgbClr val="193934"/>
                </a:solidFill>
                <a:latin typeface="Aptos"/>
              </a:defRPr>
            </a:pPr>
            <a:r>
              <a:t>SHARED ROOM • ~10%</a:t>
            </a:r>
          </a:p>
        </p:txBody>
      </p:sp>
      <p:sp>
        <p:nvSpPr>
          <p:cNvPr id="19" name="TextBox 18"/>
          <p:cNvSpPr txBox="1"/>
          <p:nvPr/>
        </p:nvSpPr>
        <p:spPr>
          <a:xfrm>
            <a:off x="4983480" y="3703320"/>
            <a:ext cx="2624328" cy="731520"/>
          </a:xfrm>
          <a:prstGeom prst="rect">
            <a:avLst/>
          </a:prstGeom>
          <a:noFill/>
        </p:spPr>
        <p:txBody>
          <a:bodyPr wrap="none" lIns="54864" rIns="54864" tIns="27432" bIns="27432">
            <a:spAutoFit/>
          </a:bodyPr>
          <a:lstStyle/>
          <a:p>
            <a:pPr>
              <a:defRPr sz="1200" b="0" i="0">
                <a:solidFill>
                  <a:srgbClr val="5A6C65"/>
                </a:solidFill>
                <a:latin typeface="Aptos"/>
              </a:defRPr>
            </a:pPr>
            <a:r>
              <a:t>A smaller share of the room types shown.</a:t>
            </a:r>
          </a:p>
        </p:txBody>
      </p:sp>
      <p:sp>
        <p:nvSpPr>
          <p:cNvPr id="20" name="Rounded Rectangle 19"/>
          <p:cNvSpPr/>
          <p:nvPr/>
        </p:nvSpPr>
        <p:spPr>
          <a:xfrm>
            <a:off x="8046720" y="3246120"/>
            <a:ext cx="3429000" cy="12344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0" y="3246120"/>
            <a:ext cx="64008" cy="1234440"/>
          </a:xfrm>
          <a:prstGeom prst="rect">
            <a:avLst/>
          </a:prstGeom>
          <a:solidFill>
            <a:srgbClr val="EC7D62"/>
          </a:solidFill>
          <a:ln>
            <a:solidFill>
              <a:srgbClr val="EC7D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3364991"/>
            <a:ext cx="3108960" cy="274320"/>
          </a:xfrm>
          <a:prstGeom prst="rect">
            <a:avLst/>
          </a:prstGeom>
          <a:noFill/>
        </p:spPr>
        <p:txBody>
          <a:bodyPr wrap="none" lIns="54864" rIns="54864" tIns="27432" bIns="27432">
            <a:spAutoFit/>
          </a:bodyPr>
          <a:lstStyle/>
          <a:p>
            <a:pPr>
              <a:defRPr sz="1400" b="1" i="0">
                <a:solidFill>
                  <a:srgbClr val="193934"/>
                </a:solidFill>
                <a:latin typeface="Aptos"/>
              </a:defRPr>
            </a:pPr>
            <a:r>
              <a:t>BUSINESS QUESTION</a:t>
            </a:r>
          </a:p>
        </p:txBody>
      </p:sp>
      <p:sp>
        <p:nvSpPr>
          <p:cNvPr id="23" name="TextBox 22"/>
          <p:cNvSpPr txBox="1"/>
          <p:nvPr/>
        </p:nvSpPr>
        <p:spPr>
          <a:xfrm>
            <a:off x="8229600" y="3703320"/>
            <a:ext cx="3081528" cy="731520"/>
          </a:xfrm>
          <a:prstGeom prst="rect">
            <a:avLst/>
          </a:prstGeom>
          <a:noFill/>
        </p:spPr>
        <p:txBody>
          <a:bodyPr wrap="none" lIns="54864" rIns="54864" tIns="27432" bIns="27432">
            <a:spAutoFit/>
          </a:bodyPr>
          <a:lstStyle/>
          <a:p>
            <a:pPr>
              <a:defRPr sz="1200" b="0" i="0">
                <a:solidFill>
                  <a:srgbClr val="5A6C65"/>
                </a:solidFill>
                <a:latin typeface="Aptos"/>
              </a:defRPr>
            </a:pPr>
            <a:r>
              <a:t>Is demand strong for both privacy and lower-cost shared options?</a:t>
            </a:r>
          </a:p>
        </p:txBody>
      </p:sp>
      <p:sp>
        <p:nvSpPr>
          <p:cNvPr id="24" name="TextBox 23"/>
          <p:cNvSpPr txBox="1"/>
          <p:nvPr/>
        </p:nvSpPr>
        <p:spPr>
          <a:xfrm>
            <a:off x="731520" y="5715000"/>
            <a:ext cx="10789920" cy="365760"/>
          </a:xfrm>
          <a:prstGeom prst="rect">
            <a:avLst/>
          </a:prstGeom>
          <a:noFill/>
        </p:spPr>
        <p:txBody>
          <a:bodyPr wrap="none" lIns="54864" rIns="54864" tIns="27432" bIns="27432">
            <a:spAutoFit/>
          </a:bodyPr>
          <a:lstStyle/>
          <a:p>
            <a:pPr>
              <a:defRPr sz="1300" b="1" i="0">
                <a:solidFill>
                  <a:srgbClr val="193934"/>
                </a:solidFill>
                <a:latin typeface="Aptos"/>
              </a:defRPr>
            </a:pPr>
            <a:r>
              <a:t>Important: use a count of listings by room type for a valid mix, not the sum of ID codes.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FF7F1"/>
        </a:solidFill>
        <a:effectLst/>
      </p:bgPr>
    </p:bg>
    <p:spTree>
      <p:nvGrpSpPr>
        <p:cNvPr id="1" name=""/>
        <p:cNvGrpSpPr/>
        <p:nvPr/>
      </p:nvGrpSpPr>
      <p:grpSpPr/>
      <p:sp>
        <p:nvSpPr>
          <p:cNvPr id="2" name="TextBox 1"/>
          <p:cNvSpPr txBox="1"/>
          <p:nvPr/>
        </p:nvSpPr>
        <p:spPr>
          <a:xfrm>
            <a:off x="594360" y="274320"/>
            <a:ext cx="9144000" cy="228600"/>
          </a:xfrm>
          <a:prstGeom prst="rect">
            <a:avLst/>
          </a:prstGeom>
          <a:noFill/>
        </p:spPr>
        <p:txBody>
          <a:bodyPr wrap="none" lIns="54864" rIns="54864" tIns="27432" bIns="27432">
            <a:spAutoFit/>
          </a:bodyPr>
          <a:lstStyle/>
          <a:p>
            <a:pPr>
              <a:defRPr sz="1000" b="1" i="0">
                <a:solidFill>
                  <a:srgbClr val="3D775B"/>
                </a:solidFill>
                <a:latin typeface="Aptos"/>
              </a:defRPr>
            </a:pPr>
            <a:r>
              <a:t>04 / CHARTS 2–3</a:t>
            </a:r>
          </a:p>
        </p:txBody>
      </p:sp>
      <p:sp>
        <p:nvSpPr>
          <p:cNvPr id="3" name="TextBox 2"/>
          <p:cNvSpPr txBox="1"/>
          <p:nvPr/>
        </p:nvSpPr>
        <p:spPr>
          <a:xfrm>
            <a:off x="594360" y="566928"/>
            <a:ext cx="10972800" cy="502920"/>
          </a:xfrm>
          <a:prstGeom prst="rect">
            <a:avLst/>
          </a:prstGeom>
          <a:noFill/>
        </p:spPr>
        <p:txBody>
          <a:bodyPr wrap="none" lIns="54864" rIns="54864" tIns="27432" bIns="27432">
            <a:spAutoFit/>
          </a:bodyPr>
          <a:lstStyle/>
          <a:p>
            <a:pPr>
              <a:defRPr sz="2700" b="1" i="0">
                <a:solidFill>
                  <a:srgbClr val="193934"/>
                </a:solidFill>
                <a:latin typeface="Aptos"/>
              </a:defRPr>
            </a:pPr>
            <a:r>
              <a:t>Host type and city: who supplies stays, and where?</a:t>
            </a:r>
          </a:p>
        </p:txBody>
      </p:sp>
      <p:sp>
        <p:nvSpPr>
          <p:cNvPr id="4" name="TextBox 3"/>
          <p:cNvSpPr txBox="1"/>
          <p:nvPr/>
        </p:nvSpPr>
        <p:spPr>
          <a:xfrm>
            <a:off x="621792" y="1097280"/>
            <a:ext cx="10972800" cy="320040"/>
          </a:xfrm>
          <a:prstGeom prst="rect">
            <a:avLst/>
          </a:prstGeom>
          <a:noFill/>
        </p:spPr>
        <p:txBody>
          <a:bodyPr wrap="none" lIns="54864" rIns="54864" tIns="27432" bIns="27432">
            <a:spAutoFit/>
          </a:bodyPr>
          <a:lstStyle/>
          <a:p>
            <a:pPr>
              <a:defRPr sz="1200" b="0" i="0">
                <a:solidFill>
                  <a:srgbClr val="5A6C65"/>
                </a:solidFill>
                <a:latin typeface="Aptos"/>
              </a:defRPr>
            </a:pPr>
            <a:r>
              <a:t>These charts describe the supply side of the marketplace.</a:t>
            </a:r>
          </a:p>
        </p:txBody>
      </p:sp>
      <p:sp>
        <p:nvSpPr>
          <p:cNvPr id="5" name="TextBox 4"/>
          <p:cNvSpPr txBox="1"/>
          <p:nvPr/>
        </p:nvSpPr>
        <p:spPr>
          <a:xfrm>
            <a:off x="11109960" y="274320"/>
            <a:ext cx="457200" cy="274320"/>
          </a:xfrm>
          <a:prstGeom prst="rect">
            <a:avLst/>
          </a:prstGeom>
          <a:noFill/>
        </p:spPr>
        <p:txBody>
          <a:bodyPr wrap="none" lIns="54864" rIns="54864" tIns="27432" bIns="27432">
            <a:spAutoFit/>
          </a:bodyPr>
          <a:lstStyle/>
          <a:p>
            <a:pPr algn="r">
              <a:defRPr sz="1100" b="1" i="0">
                <a:solidFill>
                  <a:srgbClr val="3D775B"/>
                </a:solidFill>
                <a:latin typeface="Aptos"/>
              </a:defRPr>
            </a:pPr>
            <a:r>
              <a:t>05</a:t>
            </a:r>
          </a:p>
        </p:txBody>
      </p:sp>
      <p:sp>
        <p:nvSpPr>
          <p:cNvPr id="6" name="TextBox 5"/>
          <p:cNvSpPr txBox="1"/>
          <p:nvPr/>
        </p:nvSpPr>
        <p:spPr>
          <a:xfrm>
            <a:off x="594360" y="6510528"/>
            <a:ext cx="10972800" cy="182880"/>
          </a:xfrm>
          <a:prstGeom prst="rect">
            <a:avLst/>
          </a:prstGeom>
          <a:noFill/>
        </p:spPr>
        <p:txBody>
          <a:bodyPr wrap="none" lIns="54864" rIns="54864" tIns="27432" bIns="27432">
            <a:spAutoFit/>
          </a:bodyPr>
          <a:lstStyle/>
          <a:p>
            <a:pPr>
              <a:defRPr sz="800" b="1" i="0">
                <a:solidFill>
                  <a:srgbClr val="5A6C65"/>
                </a:solidFill>
                <a:latin typeface="Aptos"/>
              </a:defRPr>
            </a:pPr>
            <a:r>
              <a:t>AIRBNB ANALYTICS  •  CLASSROOM WALKTHROUGH</a:t>
            </a:r>
          </a:p>
        </p:txBody>
      </p:sp>
      <p:graphicFrame>
        <p:nvGraphicFramePr>
          <p:cNvPr id="7" name="Chart 6"/>
          <p:cNvGraphicFramePr>
            <a:graphicFrameLocks noGrp="1"/>
          </p:cNvGraphicFramePr>
          <p:nvPr/>
        </p:nvGraphicFramePr>
        <p:xfrm>
          <a:off x="502920" y="1645920"/>
          <a:ext cx="3657600" cy="3566160"/>
        </p:xfrm>
        <a:graphic>
          <a:graphicData uri="http://schemas.openxmlformats.org/drawingml/2006/chart">
            <c:chart xmlns:c="http://schemas.openxmlformats.org/drawingml/2006/chart" r:id="rId2"/>
          </a:graphicData>
        </a:graphic>
      </p:graphicFrame>
      <p:sp>
        <p:nvSpPr>
          <p:cNvPr id="8" name="Rounded Rectangle 7"/>
          <p:cNvSpPr/>
          <p:nvPr/>
        </p:nvSpPr>
        <p:spPr>
          <a:xfrm>
            <a:off x="4389120" y="1737360"/>
            <a:ext cx="3246120" cy="13716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737360"/>
            <a:ext cx="64008" cy="1371600"/>
          </a:xfrm>
          <a:prstGeom prst="rect">
            <a:avLst/>
          </a:prstGeom>
          <a:solidFill>
            <a:srgbClr val="3D775B"/>
          </a:solidFill>
          <a:ln>
            <a:solidFill>
              <a:srgbClr val="3D77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856231"/>
            <a:ext cx="2926079" cy="274320"/>
          </a:xfrm>
          <a:prstGeom prst="rect">
            <a:avLst/>
          </a:prstGeom>
          <a:noFill/>
        </p:spPr>
        <p:txBody>
          <a:bodyPr wrap="none" lIns="54864" rIns="54864" tIns="27432" bIns="27432">
            <a:spAutoFit/>
          </a:bodyPr>
          <a:lstStyle/>
          <a:p>
            <a:pPr>
              <a:defRPr sz="1400" b="1" i="0">
                <a:solidFill>
                  <a:srgbClr val="193934"/>
                </a:solidFill>
                <a:latin typeface="Aptos"/>
              </a:defRPr>
            </a:pPr>
            <a:r>
              <a:t>HOST TYPE MIX</a:t>
            </a:r>
          </a:p>
        </p:txBody>
      </p:sp>
      <p:sp>
        <p:nvSpPr>
          <p:cNvPr id="11" name="TextBox 10"/>
          <p:cNvSpPr txBox="1"/>
          <p:nvPr/>
        </p:nvSpPr>
        <p:spPr>
          <a:xfrm>
            <a:off x="4572000" y="2194560"/>
            <a:ext cx="2898648" cy="868680"/>
          </a:xfrm>
          <a:prstGeom prst="rect">
            <a:avLst/>
          </a:prstGeom>
          <a:noFill/>
        </p:spPr>
        <p:txBody>
          <a:bodyPr wrap="none" lIns="54864" rIns="54864" tIns="27432" bIns="27432">
            <a:spAutoFit/>
          </a:bodyPr>
          <a:lstStyle/>
          <a:p>
            <a:pPr>
              <a:defRPr sz="1200" b="0" i="0">
                <a:solidFill>
                  <a:srgbClr val="5A6C65"/>
                </a:solidFill>
                <a:latin typeface="Aptos"/>
              </a:defRPr>
            </a:pPr>
            <a:r>
              <a:t>Looks close to a split between private hosts and Superhosts; labels are truncated.</a:t>
            </a:r>
          </a:p>
        </p:txBody>
      </p:sp>
      <p:sp>
        <p:nvSpPr>
          <p:cNvPr id="12" name="Rounded Rectangle 11"/>
          <p:cNvSpPr/>
          <p:nvPr/>
        </p:nvSpPr>
        <p:spPr>
          <a:xfrm>
            <a:off x="4389120" y="3383280"/>
            <a:ext cx="3246120" cy="13716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383280"/>
            <a:ext cx="64008" cy="1371600"/>
          </a:xfrm>
          <a:prstGeom prst="rect">
            <a:avLst/>
          </a:prstGeom>
          <a:solidFill>
            <a:srgbClr val="EC7D62"/>
          </a:solidFill>
          <a:ln>
            <a:solidFill>
              <a:srgbClr val="EC7D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3502152"/>
            <a:ext cx="2926079" cy="274320"/>
          </a:xfrm>
          <a:prstGeom prst="rect">
            <a:avLst/>
          </a:prstGeom>
          <a:noFill/>
        </p:spPr>
        <p:txBody>
          <a:bodyPr wrap="none" lIns="54864" rIns="54864" tIns="27432" bIns="27432">
            <a:spAutoFit/>
          </a:bodyPr>
          <a:lstStyle/>
          <a:p>
            <a:pPr>
              <a:defRPr sz="1400" b="1" i="0">
                <a:solidFill>
                  <a:srgbClr val="193934"/>
                </a:solidFill>
                <a:latin typeface="Aptos"/>
              </a:defRPr>
            </a:pPr>
            <a:r>
              <a:t>WHAT IT MAY MEAN</a:t>
            </a:r>
          </a:p>
        </p:txBody>
      </p:sp>
      <p:sp>
        <p:nvSpPr>
          <p:cNvPr id="15" name="TextBox 14"/>
          <p:cNvSpPr txBox="1"/>
          <p:nvPr/>
        </p:nvSpPr>
        <p:spPr>
          <a:xfrm>
            <a:off x="4572000" y="3840480"/>
            <a:ext cx="2898648" cy="868680"/>
          </a:xfrm>
          <a:prstGeom prst="rect">
            <a:avLst/>
          </a:prstGeom>
          <a:noFill/>
        </p:spPr>
        <p:txBody>
          <a:bodyPr wrap="none" lIns="54864" rIns="54864" tIns="27432" bIns="27432">
            <a:spAutoFit/>
          </a:bodyPr>
          <a:lstStyle/>
          <a:p>
            <a:pPr>
              <a:defRPr sz="1200" b="0" i="0">
                <a:solidFill>
                  <a:srgbClr val="5A6C65"/>
                </a:solidFill>
                <a:latin typeface="Aptos"/>
              </a:defRPr>
            </a:pPr>
            <a:r>
              <a:t>Compare ratings, price and occupancy by host type.</a:t>
            </a:r>
          </a:p>
        </p:txBody>
      </p:sp>
      <p:sp>
        <p:nvSpPr>
          <p:cNvPr id="16" name="Rounded Rectangle 15"/>
          <p:cNvSpPr/>
          <p:nvPr/>
        </p:nvSpPr>
        <p:spPr>
          <a:xfrm>
            <a:off x="7955279" y="1737360"/>
            <a:ext cx="3566160" cy="13716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55279" y="1737360"/>
            <a:ext cx="64008" cy="1371600"/>
          </a:xfrm>
          <a:prstGeom prst="rect">
            <a:avLst/>
          </a:prstGeom>
          <a:solidFill>
            <a:srgbClr val="183E69"/>
          </a:solidFill>
          <a:ln>
            <a:solidFill>
              <a:srgbClr val="183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59" y="1856231"/>
            <a:ext cx="3246120" cy="274320"/>
          </a:xfrm>
          <a:prstGeom prst="rect">
            <a:avLst/>
          </a:prstGeom>
          <a:noFill/>
        </p:spPr>
        <p:txBody>
          <a:bodyPr wrap="none" lIns="54864" rIns="54864" tIns="27432" bIns="27432">
            <a:spAutoFit/>
          </a:bodyPr>
          <a:lstStyle/>
          <a:p>
            <a:pPr>
              <a:defRPr sz="1400" b="1" i="0">
                <a:solidFill>
                  <a:srgbClr val="193934"/>
                </a:solidFill>
                <a:latin typeface="Aptos"/>
              </a:defRPr>
            </a:pPr>
            <a:r>
              <a:t>CITY COUNT</a:t>
            </a:r>
          </a:p>
        </p:txBody>
      </p:sp>
      <p:sp>
        <p:nvSpPr>
          <p:cNvPr id="19" name="TextBox 18"/>
          <p:cNvSpPr txBox="1"/>
          <p:nvPr/>
        </p:nvSpPr>
        <p:spPr>
          <a:xfrm>
            <a:off x="8138159" y="2194560"/>
            <a:ext cx="3218688" cy="868680"/>
          </a:xfrm>
          <a:prstGeom prst="rect">
            <a:avLst/>
          </a:prstGeom>
          <a:noFill/>
        </p:spPr>
        <p:txBody>
          <a:bodyPr wrap="none" lIns="54864" rIns="54864" tIns="27432" bIns="27432">
            <a:spAutoFit/>
          </a:bodyPr>
          <a:lstStyle/>
          <a:p>
            <a:pPr>
              <a:defRPr sz="1200" b="0" i="0">
                <a:solidFill>
                  <a:srgbClr val="5A6C65"/>
                </a:solidFill>
                <a:latin typeface="Aptos"/>
              </a:defRPr>
            </a:pPr>
            <a:r>
              <a:t>A count of listing IDs by city; “New Y…” is visible.</a:t>
            </a:r>
          </a:p>
        </p:txBody>
      </p:sp>
      <p:sp>
        <p:nvSpPr>
          <p:cNvPr id="20" name="Rounded Rectangle 19"/>
          <p:cNvSpPr/>
          <p:nvPr/>
        </p:nvSpPr>
        <p:spPr>
          <a:xfrm>
            <a:off x="7955279" y="3383280"/>
            <a:ext cx="3566160" cy="13716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55279" y="3383280"/>
            <a:ext cx="64008" cy="1371600"/>
          </a:xfrm>
          <a:prstGeom prst="rect">
            <a:avLst/>
          </a:prstGeom>
          <a:solidFill>
            <a:srgbClr val="EABE5F"/>
          </a:solidFill>
          <a:ln>
            <a:solidFill>
              <a:srgbClr val="EABE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59" y="3502152"/>
            <a:ext cx="3246120" cy="274320"/>
          </a:xfrm>
          <a:prstGeom prst="rect">
            <a:avLst/>
          </a:prstGeom>
          <a:noFill/>
        </p:spPr>
        <p:txBody>
          <a:bodyPr wrap="none" lIns="54864" rIns="54864" tIns="27432" bIns="27432">
            <a:spAutoFit/>
          </a:bodyPr>
          <a:lstStyle/>
          <a:p>
            <a:pPr>
              <a:defRPr sz="1400" b="1" i="0">
                <a:solidFill>
                  <a:srgbClr val="193934"/>
                </a:solidFill>
                <a:latin typeface="Aptos"/>
              </a:defRPr>
            </a:pPr>
            <a:r>
              <a:t>CHECK FILTERS</a:t>
            </a:r>
          </a:p>
        </p:txBody>
      </p:sp>
      <p:sp>
        <p:nvSpPr>
          <p:cNvPr id="23" name="TextBox 22"/>
          <p:cNvSpPr txBox="1"/>
          <p:nvPr/>
        </p:nvSpPr>
        <p:spPr>
          <a:xfrm>
            <a:off x="8138159" y="3840480"/>
            <a:ext cx="3218688" cy="868680"/>
          </a:xfrm>
          <a:prstGeom prst="rect">
            <a:avLst/>
          </a:prstGeom>
          <a:noFill/>
        </p:spPr>
        <p:txBody>
          <a:bodyPr wrap="none" lIns="54864" rIns="54864" tIns="27432" bIns="27432">
            <a:spAutoFit/>
          </a:bodyPr>
          <a:lstStyle/>
          <a:p>
            <a:pPr>
              <a:defRPr sz="1200" b="0" i="0">
                <a:solidFill>
                  <a:srgbClr val="5A6C65"/>
                </a:solidFill>
                <a:latin typeface="Aptos"/>
              </a:defRPr>
            </a:pPr>
            <a:r>
              <a:t>If several cities were expected, inspect the city field and filters.</a:t>
            </a:r>
          </a:p>
        </p:txBody>
      </p:sp>
      <p:sp>
        <p:nvSpPr>
          <p:cNvPr id="24" name="TextBox 23"/>
          <p:cNvSpPr txBox="1"/>
          <p:nvPr/>
        </p:nvSpPr>
        <p:spPr>
          <a:xfrm>
            <a:off x="731520" y="5623560"/>
            <a:ext cx="10789920" cy="365760"/>
          </a:xfrm>
          <a:prstGeom prst="rect">
            <a:avLst/>
          </a:prstGeom>
          <a:noFill/>
        </p:spPr>
        <p:txBody>
          <a:bodyPr wrap="none" lIns="54864" rIns="54864" tIns="27432" bIns="27432">
            <a:spAutoFit/>
          </a:bodyPr>
          <a:lstStyle/>
          <a:p>
            <a:pPr>
              <a:defRPr sz="1300" b="1" i="1">
                <a:solidFill>
                  <a:srgbClr val="193934"/>
                </a:solidFill>
                <a:latin typeface="Aptos"/>
              </a:defRPr>
            </a:pPr>
            <a:r>
              <a:t>Say: “Host type tells us who provides supply; city tells us where supply is concentrated.”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FF7F1"/>
        </a:solidFill>
        <a:effectLst/>
      </p:bgPr>
    </p:bg>
    <p:spTree>
      <p:nvGrpSpPr>
        <p:cNvPr id="1" name=""/>
        <p:cNvGrpSpPr/>
        <p:nvPr/>
      </p:nvGrpSpPr>
      <p:grpSpPr/>
      <p:sp>
        <p:nvSpPr>
          <p:cNvPr id="2" name="TextBox 1"/>
          <p:cNvSpPr txBox="1"/>
          <p:nvPr/>
        </p:nvSpPr>
        <p:spPr>
          <a:xfrm>
            <a:off x="594360" y="274320"/>
            <a:ext cx="9144000" cy="228600"/>
          </a:xfrm>
          <a:prstGeom prst="rect">
            <a:avLst/>
          </a:prstGeom>
          <a:noFill/>
        </p:spPr>
        <p:txBody>
          <a:bodyPr wrap="none" lIns="54864" rIns="54864" tIns="27432" bIns="27432">
            <a:spAutoFit/>
          </a:bodyPr>
          <a:lstStyle/>
          <a:p>
            <a:pPr>
              <a:defRPr sz="1000" b="1" i="0">
                <a:solidFill>
                  <a:srgbClr val="3D775B"/>
                </a:solidFill>
                <a:latin typeface="Aptos"/>
              </a:defRPr>
            </a:pPr>
            <a:r>
              <a:t>05 / CHART 4</a:t>
            </a:r>
          </a:p>
        </p:txBody>
      </p:sp>
      <p:sp>
        <p:nvSpPr>
          <p:cNvPr id="3" name="TextBox 2"/>
          <p:cNvSpPr txBox="1"/>
          <p:nvPr/>
        </p:nvSpPr>
        <p:spPr>
          <a:xfrm>
            <a:off x="594360" y="566928"/>
            <a:ext cx="10972800" cy="502920"/>
          </a:xfrm>
          <a:prstGeom prst="rect">
            <a:avLst/>
          </a:prstGeom>
          <a:noFill/>
        </p:spPr>
        <p:txBody>
          <a:bodyPr wrap="none" lIns="54864" rIns="54864" tIns="27432" bIns="27432">
            <a:spAutoFit/>
          </a:bodyPr>
          <a:lstStyle/>
          <a:p>
            <a:pPr>
              <a:defRPr sz="2700" b="1" i="0">
                <a:solidFill>
                  <a:srgbClr val="193934"/>
                </a:solidFill>
                <a:latin typeface="Aptos"/>
              </a:defRPr>
            </a:pPr>
            <a:r>
              <a:t>Nightly price by neighbourhood: location changes price</a:t>
            </a:r>
          </a:p>
        </p:txBody>
      </p:sp>
      <p:sp>
        <p:nvSpPr>
          <p:cNvPr id="4" name="TextBox 3"/>
          <p:cNvSpPr txBox="1"/>
          <p:nvPr/>
        </p:nvSpPr>
        <p:spPr>
          <a:xfrm>
            <a:off x="621792" y="1097280"/>
            <a:ext cx="10972800" cy="320040"/>
          </a:xfrm>
          <a:prstGeom prst="rect">
            <a:avLst/>
          </a:prstGeom>
          <a:noFill/>
        </p:spPr>
        <p:txBody>
          <a:bodyPr wrap="none" lIns="54864" rIns="54864" tIns="27432" bIns="27432">
            <a:spAutoFit/>
          </a:bodyPr>
          <a:lstStyle/>
          <a:p>
            <a:pPr>
              <a:defRPr sz="1200" b="0" i="0">
                <a:solidFill>
                  <a:srgbClr val="5A6C65"/>
                </a:solidFill>
                <a:latin typeface="Aptos"/>
              </a:defRPr>
            </a:pPr>
            <a:r>
              <a:t>The column chart compares average price_per_night_usd across neighbourhood labels.</a:t>
            </a:r>
          </a:p>
        </p:txBody>
      </p:sp>
      <p:sp>
        <p:nvSpPr>
          <p:cNvPr id="5" name="TextBox 4"/>
          <p:cNvSpPr txBox="1"/>
          <p:nvPr/>
        </p:nvSpPr>
        <p:spPr>
          <a:xfrm>
            <a:off x="11109960" y="274320"/>
            <a:ext cx="457200" cy="274320"/>
          </a:xfrm>
          <a:prstGeom prst="rect">
            <a:avLst/>
          </a:prstGeom>
          <a:noFill/>
        </p:spPr>
        <p:txBody>
          <a:bodyPr wrap="none" lIns="54864" rIns="54864" tIns="27432" bIns="27432">
            <a:spAutoFit/>
          </a:bodyPr>
          <a:lstStyle/>
          <a:p>
            <a:pPr algn="r">
              <a:defRPr sz="1100" b="1" i="0">
                <a:solidFill>
                  <a:srgbClr val="3D775B"/>
                </a:solidFill>
                <a:latin typeface="Aptos"/>
              </a:defRPr>
            </a:pPr>
            <a:r>
              <a:t>06</a:t>
            </a:r>
          </a:p>
        </p:txBody>
      </p:sp>
      <p:sp>
        <p:nvSpPr>
          <p:cNvPr id="6" name="TextBox 5"/>
          <p:cNvSpPr txBox="1"/>
          <p:nvPr/>
        </p:nvSpPr>
        <p:spPr>
          <a:xfrm>
            <a:off x="594360" y="6510528"/>
            <a:ext cx="10972800" cy="182880"/>
          </a:xfrm>
          <a:prstGeom prst="rect">
            <a:avLst/>
          </a:prstGeom>
          <a:noFill/>
        </p:spPr>
        <p:txBody>
          <a:bodyPr wrap="none" lIns="54864" rIns="54864" tIns="27432" bIns="27432">
            <a:spAutoFit/>
          </a:bodyPr>
          <a:lstStyle/>
          <a:p>
            <a:pPr>
              <a:defRPr sz="800" b="1" i="0">
                <a:solidFill>
                  <a:srgbClr val="5A6C65"/>
                </a:solidFill>
                <a:latin typeface="Aptos"/>
              </a:defRPr>
            </a:pPr>
            <a:r>
              <a:t>AIRBNB ANALYTICS  •  CLASSROOM WALKTHROUGH</a:t>
            </a:r>
          </a:p>
        </p:txBody>
      </p:sp>
      <p:sp>
        <p:nvSpPr>
          <p:cNvPr id="7" name="Rounded Rectangle 6"/>
          <p:cNvSpPr/>
          <p:nvPr/>
        </p:nvSpPr>
        <p:spPr>
          <a:xfrm>
            <a:off x="868680" y="2852927"/>
            <a:ext cx="749808" cy="2221992"/>
          </a:xfrm>
          <a:prstGeom prst="roundRect">
            <a:avLst/>
          </a:prstGeom>
          <a:solidFill>
            <a:srgbClr val="193934"/>
          </a:solidFill>
          <a:ln>
            <a:solidFill>
              <a:srgbClr val="193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514599"/>
            <a:ext cx="868680" cy="228600"/>
          </a:xfrm>
          <a:prstGeom prst="rect">
            <a:avLst/>
          </a:prstGeom>
          <a:noFill/>
        </p:spPr>
        <p:txBody>
          <a:bodyPr wrap="none" lIns="54864" rIns="54864" tIns="27432" bIns="27432">
            <a:spAutoFit/>
          </a:bodyPr>
          <a:lstStyle/>
          <a:p>
            <a:pPr algn="ctr">
              <a:defRPr sz="1200" b="1" i="0">
                <a:solidFill>
                  <a:srgbClr val="193934"/>
                </a:solidFill>
                <a:latin typeface="Aptos"/>
              </a:defRPr>
            </a:pPr>
            <a:r>
              <a:t>$198</a:t>
            </a:r>
          </a:p>
        </p:txBody>
      </p:sp>
      <p:sp>
        <p:nvSpPr>
          <p:cNvPr id="9" name="TextBox 8"/>
          <p:cNvSpPr txBox="1"/>
          <p:nvPr/>
        </p:nvSpPr>
        <p:spPr>
          <a:xfrm>
            <a:off x="685800" y="5184648"/>
            <a:ext cx="1097280" cy="274320"/>
          </a:xfrm>
          <a:prstGeom prst="rect">
            <a:avLst/>
          </a:prstGeom>
          <a:noFill/>
        </p:spPr>
        <p:txBody>
          <a:bodyPr wrap="none" lIns="54864" rIns="54864" tIns="27432" bIns="27432">
            <a:spAutoFit/>
          </a:bodyPr>
          <a:lstStyle/>
          <a:p>
            <a:pPr algn="ctr">
              <a:defRPr sz="1100" b="1" i="0">
                <a:solidFill>
                  <a:srgbClr val="5A6C65"/>
                </a:solidFill>
                <a:latin typeface="Aptos"/>
              </a:defRPr>
            </a:pPr>
            <a:r>
              <a:t>Manh…</a:t>
            </a:r>
          </a:p>
        </p:txBody>
      </p:sp>
      <p:sp>
        <p:nvSpPr>
          <p:cNvPr id="10" name="Rounded Rectangle 9"/>
          <p:cNvSpPr/>
          <p:nvPr/>
        </p:nvSpPr>
        <p:spPr>
          <a:xfrm>
            <a:off x="2167128" y="3705813"/>
            <a:ext cx="749808" cy="1369106"/>
          </a:xfrm>
          <a:prstGeom prst="roundRect">
            <a:avLst/>
          </a:prstGeom>
          <a:solidFill>
            <a:srgbClr val="3D775B"/>
          </a:solidFill>
          <a:ln>
            <a:solidFill>
              <a:srgbClr val="3D77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21408" y="3367485"/>
            <a:ext cx="868680" cy="228600"/>
          </a:xfrm>
          <a:prstGeom prst="rect">
            <a:avLst/>
          </a:prstGeom>
          <a:noFill/>
        </p:spPr>
        <p:txBody>
          <a:bodyPr wrap="none" lIns="54864" rIns="54864" tIns="27432" bIns="27432">
            <a:spAutoFit/>
          </a:bodyPr>
          <a:lstStyle/>
          <a:p>
            <a:pPr algn="ctr">
              <a:defRPr sz="1200" b="1" i="0">
                <a:solidFill>
                  <a:srgbClr val="193934"/>
                </a:solidFill>
                <a:latin typeface="Aptos"/>
              </a:defRPr>
            </a:pPr>
            <a:r>
              <a:t>$122</a:t>
            </a:r>
          </a:p>
        </p:txBody>
      </p:sp>
      <p:sp>
        <p:nvSpPr>
          <p:cNvPr id="12" name="TextBox 11"/>
          <p:cNvSpPr txBox="1"/>
          <p:nvPr/>
        </p:nvSpPr>
        <p:spPr>
          <a:xfrm>
            <a:off x="1984248" y="5184648"/>
            <a:ext cx="1097280" cy="274320"/>
          </a:xfrm>
          <a:prstGeom prst="rect">
            <a:avLst/>
          </a:prstGeom>
          <a:noFill/>
        </p:spPr>
        <p:txBody>
          <a:bodyPr wrap="none" lIns="54864" rIns="54864" tIns="27432" bIns="27432">
            <a:spAutoFit/>
          </a:bodyPr>
          <a:lstStyle/>
          <a:p>
            <a:pPr algn="ctr">
              <a:defRPr sz="1100" b="1" i="0">
                <a:solidFill>
                  <a:srgbClr val="5A6C65"/>
                </a:solidFill>
                <a:latin typeface="Aptos"/>
              </a:defRPr>
            </a:pPr>
            <a:r>
              <a:t>Broo…</a:t>
            </a:r>
          </a:p>
        </p:txBody>
      </p:sp>
      <p:sp>
        <p:nvSpPr>
          <p:cNvPr id="13" name="Rounded Rectangle 12"/>
          <p:cNvSpPr/>
          <p:nvPr/>
        </p:nvSpPr>
        <p:spPr>
          <a:xfrm>
            <a:off x="3465576" y="4042479"/>
            <a:ext cx="749808" cy="1032440"/>
          </a:xfrm>
          <a:prstGeom prst="roundRect">
            <a:avLst/>
          </a:prstGeom>
          <a:solidFill>
            <a:srgbClr val="B7D8C3"/>
          </a:solidFill>
          <a:ln>
            <a:solidFill>
              <a:srgbClr val="B7D8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19856" y="3704151"/>
            <a:ext cx="868680" cy="228600"/>
          </a:xfrm>
          <a:prstGeom prst="rect">
            <a:avLst/>
          </a:prstGeom>
          <a:noFill/>
        </p:spPr>
        <p:txBody>
          <a:bodyPr wrap="none" lIns="54864" rIns="54864" tIns="27432" bIns="27432">
            <a:spAutoFit/>
          </a:bodyPr>
          <a:lstStyle/>
          <a:p>
            <a:pPr algn="ctr">
              <a:defRPr sz="1200" b="1" i="0">
                <a:solidFill>
                  <a:srgbClr val="193934"/>
                </a:solidFill>
                <a:latin typeface="Aptos"/>
              </a:defRPr>
            </a:pPr>
            <a:r>
              <a:t>$92</a:t>
            </a:r>
          </a:p>
        </p:txBody>
      </p:sp>
      <p:sp>
        <p:nvSpPr>
          <p:cNvPr id="15" name="TextBox 14"/>
          <p:cNvSpPr txBox="1"/>
          <p:nvPr/>
        </p:nvSpPr>
        <p:spPr>
          <a:xfrm>
            <a:off x="3282696" y="5184648"/>
            <a:ext cx="1097280" cy="274320"/>
          </a:xfrm>
          <a:prstGeom prst="rect">
            <a:avLst/>
          </a:prstGeom>
          <a:noFill/>
        </p:spPr>
        <p:txBody>
          <a:bodyPr wrap="none" lIns="54864" rIns="54864" tIns="27432" bIns="27432">
            <a:spAutoFit/>
          </a:bodyPr>
          <a:lstStyle/>
          <a:p>
            <a:pPr algn="ctr">
              <a:defRPr sz="1100" b="1" i="0">
                <a:solidFill>
                  <a:srgbClr val="5A6C65"/>
                </a:solidFill>
                <a:latin typeface="Aptos"/>
              </a:defRPr>
            </a:pPr>
            <a:r>
              <a:t>Quee…</a:t>
            </a:r>
          </a:p>
        </p:txBody>
      </p:sp>
      <p:sp>
        <p:nvSpPr>
          <p:cNvPr id="16" name="Rounded Rectangle 15"/>
          <p:cNvSpPr/>
          <p:nvPr/>
        </p:nvSpPr>
        <p:spPr>
          <a:xfrm>
            <a:off x="4764024" y="4199589"/>
            <a:ext cx="749808" cy="875330"/>
          </a:xfrm>
          <a:prstGeom prst="roundRect">
            <a:avLst/>
          </a:prstGeom>
          <a:solidFill>
            <a:srgbClr val="99C5A9"/>
          </a:solidFill>
          <a:ln>
            <a:solidFill>
              <a:srgbClr val="99C5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18304" y="3861261"/>
            <a:ext cx="868680" cy="228600"/>
          </a:xfrm>
          <a:prstGeom prst="rect">
            <a:avLst/>
          </a:prstGeom>
          <a:noFill/>
        </p:spPr>
        <p:txBody>
          <a:bodyPr wrap="none" lIns="54864" rIns="54864" tIns="27432" bIns="27432">
            <a:spAutoFit/>
          </a:bodyPr>
          <a:lstStyle/>
          <a:p>
            <a:pPr algn="ctr">
              <a:defRPr sz="1200" b="1" i="0">
                <a:solidFill>
                  <a:srgbClr val="193934"/>
                </a:solidFill>
                <a:latin typeface="Aptos"/>
              </a:defRPr>
            </a:pPr>
            <a:r>
              <a:t>$78</a:t>
            </a:r>
          </a:p>
        </p:txBody>
      </p:sp>
      <p:sp>
        <p:nvSpPr>
          <p:cNvPr id="18" name="TextBox 17"/>
          <p:cNvSpPr txBox="1"/>
          <p:nvPr/>
        </p:nvSpPr>
        <p:spPr>
          <a:xfrm>
            <a:off x="4581144" y="5184648"/>
            <a:ext cx="1097280" cy="274320"/>
          </a:xfrm>
          <a:prstGeom prst="rect">
            <a:avLst/>
          </a:prstGeom>
          <a:noFill/>
        </p:spPr>
        <p:txBody>
          <a:bodyPr wrap="none" lIns="54864" rIns="54864" tIns="27432" bIns="27432">
            <a:spAutoFit/>
          </a:bodyPr>
          <a:lstStyle/>
          <a:p>
            <a:pPr algn="ctr">
              <a:defRPr sz="1100" b="1" i="0">
                <a:solidFill>
                  <a:srgbClr val="5A6C65"/>
                </a:solidFill>
                <a:latin typeface="Aptos"/>
              </a:defRPr>
            </a:pPr>
            <a:r>
              <a:t>Bronx</a:t>
            </a:r>
          </a:p>
        </p:txBody>
      </p:sp>
      <p:sp>
        <p:nvSpPr>
          <p:cNvPr id="19" name="Rounded Rectangle 18"/>
          <p:cNvSpPr/>
          <p:nvPr/>
        </p:nvSpPr>
        <p:spPr>
          <a:xfrm>
            <a:off x="6400800" y="1737360"/>
            <a:ext cx="4892040" cy="10058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0" y="1737360"/>
            <a:ext cx="64008" cy="1005840"/>
          </a:xfrm>
          <a:prstGeom prst="rect">
            <a:avLst/>
          </a:prstGeom>
          <a:solidFill>
            <a:srgbClr val="3D775B"/>
          </a:solidFill>
          <a:ln>
            <a:solidFill>
              <a:srgbClr val="3D77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1856231"/>
            <a:ext cx="4572000" cy="274320"/>
          </a:xfrm>
          <a:prstGeom prst="rect">
            <a:avLst/>
          </a:prstGeom>
          <a:noFill/>
        </p:spPr>
        <p:txBody>
          <a:bodyPr wrap="none" lIns="54864" rIns="54864" tIns="27432" bIns="27432">
            <a:spAutoFit/>
          </a:bodyPr>
          <a:lstStyle/>
          <a:p>
            <a:pPr>
              <a:defRPr sz="1400" b="1" i="0">
                <a:solidFill>
                  <a:srgbClr val="193934"/>
                </a:solidFill>
                <a:latin typeface="Aptos"/>
              </a:defRPr>
            </a:pPr>
            <a:r>
              <a:t>COMPARE</a:t>
            </a:r>
          </a:p>
        </p:txBody>
      </p:sp>
      <p:sp>
        <p:nvSpPr>
          <p:cNvPr id="22" name="TextBox 21"/>
          <p:cNvSpPr txBox="1"/>
          <p:nvPr/>
        </p:nvSpPr>
        <p:spPr>
          <a:xfrm>
            <a:off x="6583680" y="2194560"/>
            <a:ext cx="4544568" cy="502920"/>
          </a:xfrm>
          <a:prstGeom prst="rect">
            <a:avLst/>
          </a:prstGeom>
          <a:noFill/>
        </p:spPr>
        <p:txBody>
          <a:bodyPr wrap="none" lIns="54864" rIns="54864" tIns="27432" bIns="27432">
            <a:spAutoFit/>
          </a:bodyPr>
          <a:lstStyle/>
          <a:p>
            <a:pPr>
              <a:defRPr sz="1200" b="0" i="0">
                <a:solidFill>
                  <a:srgbClr val="5A6C65"/>
                </a:solidFill>
                <a:latin typeface="Aptos"/>
              </a:defRPr>
            </a:pPr>
            <a:r>
              <a:t>Manh… appears highest, followed by Broo…; Quee… and Bronx are lower.</a:t>
            </a:r>
          </a:p>
        </p:txBody>
      </p:sp>
      <p:sp>
        <p:nvSpPr>
          <p:cNvPr id="23" name="Rounded Rectangle 22"/>
          <p:cNvSpPr/>
          <p:nvPr/>
        </p:nvSpPr>
        <p:spPr>
          <a:xfrm>
            <a:off x="6400800" y="2971800"/>
            <a:ext cx="4892040" cy="10058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2971800"/>
            <a:ext cx="64008" cy="1005840"/>
          </a:xfrm>
          <a:prstGeom prst="rect">
            <a:avLst/>
          </a:prstGeom>
          <a:solidFill>
            <a:srgbClr val="183E69"/>
          </a:solidFill>
          <a:ln>
            <a:solidFill>
              <a:srgbClr val="183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0" y="3090672"/>
            <a:ext cx="4572000" cy="274320"/>
          </a:xfrm>
          <a:prstGeom prst="rect">
            <a:avLst/>
          </a:prstGeom>
          <a:noFill/>
        </p:spPr>
        <p:txBody>
          <a:bodyPr wrap="none" lIns="54864" rIns="54864" tIns="27432" bIns="27432">
            <a:spAutoFit/>
          </a:bodyPr>
          <a:lstStyle/>
          <a:p>
            <a:pPr>
              <a:defRPr sz="1400" b="1" i="0">
                <a:solidFill>
                  <a:srgbClr val="193934"/>
                </a:solidFill>
                <a:latin typeface="Aptos"/>
              </a:defRPr>
            </a:pPr>
            <a:r>
              <a:t>EXPLAIN</a:t>
            </a:r>
          </a:p>
        </p:txBody>
      </p:sp>
      <p:sp>
        <p:nvSpPr>
          <p:cNvPr id="26" name="TextBox 25"/>
          <p:cNvSpPr txBox="1"/>
          <p:nvPr/>
        </p:nvSpPr>
        <p:spPr>
          <a:xfrm>
            <a:off x="6583680" y="3429000"/>
            <a:ext cx="4544568" cy="502920"/>
          </a:xfrm>
          <a:prstGeom prst="rect">
            <a:avLst/>
          </a:prstGeom>
          <a:noFill/>
        </p:spPr>
        <p:txBody>
          <a:bodyPr wrap="none" lIns="54864" rIns="54864" tIns="27432" bIns="27432">
            <a:spAutoFit/>
          </a:bodyPr>
          <a:lstStyle/>
          <a:p>
            <a:pPr>
              <a:defRPr sz="1200" b="0" i="0">
                <a:solidFill>
                  <a:srgbClr val="5A6C65"/>
                </a:solidFill>
                <a:latin typeface="Aptos"/>
              </a:defRPr>
            </a:pPr>
            <a:r>
              <a:t>Location, transport, attractions and property type may influence price.</a:t>
            </a:r>
          </a:p>
        </p:txBody>
      </p:sp>
      <p:sp>
        <p:nvSpPr>
          <p:cNvPr id="27" name="Rounded Rectangle 26"/>
          <p:cNvSpPr/>
          <p:nvPr/>
        </p:nvSpPr>
        <p:spPr>
          <a:xfrm>
            <a:off x="6400800" y="4206240"/>
            <a:ext cx="4892040" cy="10058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0" y="4206240"/>
            <a:ext cx="64008" cy="1005840"/>
          </a:xfrm>
          <a:prstGeom prst="rect">
            <a:avLst/>
          </a:prstGeom>
          <a:solidFill>
            <a:srgbClr val="EC7D62"/>
          </a:solidFill>
          <a:ln>
            <a:solidFill>
              <a:srgbClr val="EC7D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4325112"/>
            <a:ext cx="4572000" cy="274320"/>
          </a:xfrm>
          <a:prstGeom prst="rect">
            <a:avLst/>
          </a:prstGeom>
          <a:noFill/>
        </p:spPr>
        <p:txBody>
          <a:bodyPr wrap="none" lIns="54864" rIns="54864" tIns="27432" bIns="27432">
            <a:spAutoFit/>
          </a:bodyPr>
          <a:lstStyle/>
          <a:p>
            <a:pPr>
              <a:defRPr sz="1400" b="1" i="0">
                <a:solidFill>
                  <a:srgbClr val="193934"/>
                </a:solidFill>
                <a:latin typeface="Aptos"/>
              </a:defRPr>
            </a:pPr>
            <a:r>
              <a:t>DECIDE</a:t>
            </a:r>
          </a:p>
        </p:txBody>
      </p:sp>
      <p:sp>
        <p:nvSpPr>
          <p:cNvPr id="30" name="TextBox 29"/>
          <p:cNvSpPr txBox="1"/>
          <p:nvPr/>
        </p:nvSpPr>
        <p:spPr>
          <a:xfrm>
            <a:off x="6583680" y="4663440"/>
            <a:ext cx="4544568" cy="502920"/>
          </a:xfrm>
          <a:prstGeom prst="rect">
            <a:avLst/>
          </a:prstGeom>
          <a:noFill/>
        </p:spPr>
        <p:txBody>
          <a:bodyPr wrap="none" lIns="54864" rIns="54864" tIns="27432" bIns="27432">
            <a:spAutoFit/>
          </a:bodyPr>
          <a:lstStyle/>
          <a:p>
            <a:pPr>
              <a:defRPr sz="1200" b="0" i="0">
                <a:solidFill>
                  <a:srgbClr val="5A6C65"/>
                </a:solidFill>
                <a:latin typeface="Aptos"/>
              </a:defRPr>
            </a:pPr>
            <a:r>
              <a:t>Hosts can benchmark prices against similar listings in the same area.</a:t>
            </a:r>
          </a:p>
        </p:txBody>
      </p:sp>
      <p:sp>
        <p:nvSpPr>
          <p:cNvPr id="31" name="TextBox 30"/>
          <p:cNvSpPr txBox="1"/>
          <p:nvPr/>
        </p:nvSpPr>
        <p:spPr>
          <a:xfrm>
            <a:off x="731520" y="5806440"/>
            <a:ext cx="10789920" cy="320040"/>
          </a:xfrm>
          <a:prstGeom prst="rect">
            <a:avLst/>
          </a:prstGeom>
          <a:noFill/>
        </p:spPr>
        <p:txBody>
          <a:bodyPr wrap="none" lIns="54864" rIns="54864" tIns="27432" bIns="27432">
            <a:spAutoFit/>
          </a:bodyPr>
          <a:lstStyle/>
          <a:p>
            <a:pPr>
              <a:defRPr sz="1000" b="1" i="0">
                <a:solidFill>
                  <a:srgbClr val="EC7D62"/>
                </a:solidFill>
                <a:latin typeface="Aptos"/>
              </a:defRPr>
            </a:pPr>
            <a:r>
              <a:t>Bars are approximate readings from the screenshot, not audited values. Verify in the source dashboard.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FF7F1"/>
        </a:solidFill>
        <a:effectLst/>
      </p:bgPr>
    </p:bg>
    <p:spTree>
      <p:nvGrpSpPr>
        <p:cNvPr id="1" name=""/>
        <p:cNvGrpSpPr/>
        <p:nvPr/>
      </p:nvGrpSpPr>
      <p:grpSpPr/>
      <p:sp>
        <p:nvSpPr>
          <p:cNvPr id="2" name="TextBox 1"/>
          <p:cNvSpPr txBox="1"/>
          <p:nvPr/>
        </p:nvSpPr>
        <p:spPr>
          <a:xfrm>
            <a:off x="594360" y="274320"/>
            <a:ext cx="9144000" cy="228600"/>
          </a:xfrm>
          <a:prstGeom prst="rect">
            <a:avLst/>
          </a:prstGeom>
          <a:noFill/>
        </p:spPr>
        <p:txBody>
          <a:bodyPr wrap="none" lIns="54864" rIns="54864" tIns="27432" bIns="27432">
            <a:spAutoFit/>
          </a:bodyPr>
          <a:lstStyle/>
          <a:p>
            <a:pPr>
              <a:defRPr sz="1000" b="1" i="0">
                <a:solidFill>
                  <a:srgbClr val="3D775B"/>
                </a:solidFill>
                <a:latin typeface="Aptos"/>
              </a:defRPr>
            </a:pPr>
            <a:r>
              <a:t>06 / CHARTS 5–6</a:t>
            </a:r>
          </a:p>
        </p:txBody>
      </p:sp>
      <p:sp>
        <p:nvSpPr>
          <p:cNvPr id="3" name="TextBox 2"/>
          <p:cNvSpPr txBox="1"/>
          <p:nvPr/>
        </p:nvSpPr>
        <p:spPr>
          <a:xfrm>
            <a:off x="594360" y="566928"/>
            <a:ext cx="10972800" cy="502920"/>
          </a:xfrm>
          <a:prstGeom prst="rect">
            <a:avLst/>
          </a:prstGeom>
          <a:noFill/>
        </p:spPr>
        <p:txBody>
          <a:bodyPr wrap="none" lIns="54864" rIns="54864" tIns="27432" bIns="27432">
            <a:spAutoFit/>
          </a:bodyPr>
          <a:lstStyle/>
          <a:p>
            <a:pPr>
              <a:defRPr sz="2700" b="1" i="0">
                <a:solidFill>
                  <a:srgbClr val="193934"/>
                </a:solidFill>
                <a:latin typeface="Aptos"/>
              </a:defRPr>
            </a:pPr>
            <a:r>
              <a:t>Guest ratings and the map: quality is also local</a:t>
            </a:r>
          </a:p>
        </p:txBody>
      </p:sp>
      <p:sp>
        <p:nvSpPr>
          <p:cNvPr id="4" name="TextBox 3"/>
          <p:cNvSpPr txBox="1"/>
          <p:nvPr/>
        </p:nvSpPr>
        <p:spPr>
          <a:xfrm>
            <a:off x="621792" y="1097280"/>
            <a:ext cx="10972800" cy="320040"/>
          </a:xfrm>
          <a:prstGeom prst="rect">
            <a:avLst/>
          </a:prstGeom>
          <a:noFill/>
        </p:spPr>
        <p:txBody>
          <a:bodyPr wrap="none" lIns="54864" rIns="54864" tIns="27432" bIns="27432">
            <a:spAutoFit/>
          </a:bodyPr>
          <a:lstStyle/>
          <a:p>
            <a:pPr>
              <a:defRPr sz="1200" b="0" i="0">
                <a:solidFill>
                  <a:srgbClr val="5A6C65"/>
                </a:solidFill>
                <a:latin typeface="Aptos"/>
              </a:defRPr>
            </a:pPr>
            <a:r>
              <a:t>Bars compare average review rating by room type; the map adds geographic context.</a:t>
            </a:r>
          </a:p>
        </p:txBody>
      </p:sp>
      <p:sp>
        <p:nvSpPr>
          <p:cNvPr id="5" name="TextBox 4"/>
          <p:cNvSpPr txBox="1"/>
          <p:nvPr/>
        </p:nvSpPr>
        <p:spPr>
          <a:xfrm>
            <a:off x="11109960" y="274320"/>
            <a:ext cx="457200" cy="274320"/>
          </a:xfrm>
          <a:prstGeom prst="rect">
            <a:avLst/>
          </a:prstGeom>
          <a:noFill/>
        </p:spPr>
        <p:txBody>
          <a:bodyPr wrap="none" lIns="54864" rIns="54864" tIns="27432" bIns="27432">
            <a:spAutoFit/>
          </a:bodyPr>
          <a:lstStyle/>
          <a:p>
            <a:pPr algn="r">
              <a:defRPr sz="1100" b="1" i="0">
                <a:solidFill>
                  <a:srgbClr val="3D775B"/>
                </a:solidFill>
                <a:latin typeface="Aptos"/>
              </a:defRPr>
            </a:pPr>
            <a:r>
              <a:t>07</a:t>
            </a:r>
          </a:p>
        </p:txBody>
      </p:sp>
      <p:sp>
        <p:nvSpPr>
          <p:cNvPr id="6" name="TextBox 5"/>
          <p:cNvSpPr txBox="1"/>
          <p:nvPr/>
        </p:nvSpPr>
        <p:spPr>
          <a:xfrm>
            <a:off x="594360" y="6510528"/>
            <a:ext cx="10972800" cy="182880"/>
          </a:xfrm>
          <a:prstGeom prst="rect">
            <a:avLst/>
          </a:prstGeom>
          <a:noFill/>
        </p:spPr>
        <p:txBody>
          <a:bodyPr wrap="none" lIns="54864" rIns="54864" tIns="27432" bIns="27432">
            <a:spAutoFit/>
          </a:bodyPr>
          <a:lstStyle/>
          <a:p>
            <a:pPr>
              <a:defRPr sz="800" b="1" i="0">
                <a:solidFill>
                  <a:srgbClr val="5A6C65"/>
                </a:solidFill>
                <a:latin typeface="Aptos"/>
              </a:defRPr>
            </a:pPr>
            <a:r>
              <a:t>AIRBNB ANALYTICS  •  CLASSROOM WALKTHROUGH</a:t>
            </a:r>
          </a:p>
        </p:txBody>
      </p:sp>
      <p:sp>
        <p:nvSpPr>
          <p:cNvPr id="7" name="TextBox 6"/>
          <p:cNvSpPr txBox="1"/>
          <p:nvPr/>
        </p:nvSpPr>
        <p:spPr>
          <a:xfrm>
            <a:off x="731520" y="1828800"/>
            <a:ext cx="1371600" cy="274320"/>
          </a:xfrm>
          <a:prstGeom prst="rect">
            <a:avLst/>
          </a:prstGeom>
          <a:noFill/>
        </p:spPr>
        <p:txBody>
          <a:bodyPr wrap="none" lIns="54864" rIns="54864" tIns="27432" bIns="27432">
            <a:spAutoFit/>
          </a:bodyPr>
          <a:lstStyle/>
          <a:p>
            <a:pPr>
              <a:defRPr sz="1200" b="1" i="0">
                <a:solidFill>
                  <a:srgbClr val="193934"/>
                </a:solidFill>
                <a:latin typeface="Aptos"/>
              </a:defRPr>
            </a:pPr>
            <a:r>
              <a:t>Entire home</a:t>
            </a:r>
          </a:p>
        </p:txBody>
      </p:sp>
      <p:sp>
        <p:nvSpPr>
          <p:cNvPr id="8" name="Rounded Rectangle 7"/>
          <p:cNvSpPr/>
          <p:nvPr/>
        </p:nvSpPr>
        <p:spPr>
          <a:xfrm>
            <a:off x="2148840" y="1828800"/>
            <a:ext cx="3291840" cy="292608"/>
          </a:xfrm>
          <a:prstGeom prst="roundRect">
            <a:avLst/>
          </a:prstGeom>
          <a:solidFill>
            <a:srgbClr val="E1E9E3"/>
          </a:solidFill>
          <a:ln>
            <a:solidFill>
              <a:srgbClr val="E1E9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148840" y="1828800"/>
            <a:ext cx="3094329" cy="292608"/>
          </a:xfrm>
          <a:prstGeom prst="roundRect">
            <a:avLst/>
          </a:prstGeom>
          <a:solidFill>
            <a:srgbClr val="183E69"/>
          </a:solidFill>
          <a:ln>
            <a:solidFill>
              <a:srgbClr val="183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32120" y="1810512"/>
            <a:ext cx="731520" cy="274320"/>
          </a:xfrm>
          <a:prstGeom prst="rect">
            <a:avLst/>
          </a:prstGeom>
          <a:noFill/>
        </p:spPr>
        <p:txBody>
          <a:bodyPr wrap="none" lIns="54864" rIns="54864" tIns="27432" bIns="27432">
            <a:spAutoFit/>
          </a:bodyPr>
          <a:lstStyle/>
          <a:p>
            <a:pPr>
              <a:defRPr sz="1200" b="1" i="0">
                <a:solidFill>
                  <a:srgbClr val="183E69"/>
                </a:solidFill>
                <a:latin typeface="Aptos"/>
              </a:defRPr>
            </a:pPr>
            <a:r>
              <a:t>4.7/5</a:t>
            </a:r>
          </a:p>
        </p:txBody>
      </p:sp>
      <p:sp>
        <p:nvSpPr>
          <p:cNvPr id="11" name="TextBox 10"/>
          <p:cNvSpPr txBox="1"/>
          <p:nvPr/>
        </p:nvSpPr>
        <p:spPr>
          <a:xfrm>
            <a:off x="731520" y="2651760"/>
            <a:ext cx="1371600" cy="274320"/>
          </a:xfrm>
          <a:prstGeom prst="rect">
            <a:avLst/>
          </a:prstGeom>
          <a:noFill/>
        </p:spPr>
        <p:txBody>
          <a:bodyPr wrap="none" lIns="54864" rIns="54864" tIns="27432" bIns="27432">
            <a:spAutoFit/>
          </a:bodyPr>
          <a:lstStyle/>
          <a:p>
            <a:pPr>
              <a:defRPr sz="1200" b="1" i="0">
                <a:solidFill>
                  <a:srgbClr val="193934"/>
                </a:solidFill>
                <a:latin typeface="Aptos"/>
              </a:defRPr>
            </a:pPr>
            <a:r>
              <a:t>Private room</a:t>
            </a:r>
          </a:p>
        </p:txBody>
      </p:sp>
      <p:sp>
        <p:nvSpPr>
          <p:cNvPr id="12" name="Rounded Rectangle 11"/>
          <p:cNvSpPr/>
          <p:nvPr/>
        </p:nvSpPr>
        <p:spPr>
          <a:xfrm>
            <a:off x="2148840" y="2651760"/>
            <a:ext cx="3291840" cy="292608"/>
          </a:xfrm>
          <a:prstGeom prst="roundRect">
            <a:avLst/>
          </a:prstGeom>
          <a:solidFill>
            <a:srgbClr val="E1E9E3"/>
          </a:solidFill>
          <a:ln>
            <a:solidFill>
              <a:srgbClr val="E1E9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148840" y="2651760"/>
            <a:ext cx="2962656" cy="292608"/>
          </a:xfrm>
          <a:prstGeom prst="roundRect">
            <a:avLst/>
          </a:prstGeom>
          <a:solidFill>
            <a:srgbClr val="183E69"/>
          </a:solidFill>
          <a:ln>
            <a:solidFill>
              <a:srgbClr val="183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32120" y="2633472"/>
            <a:ext cx="731520" cy="274320"/>
          </a:xfrm>
          <a:prstGeom prst="rect">
            <a:avLst/>
          </a:prstGeom>
          <a:noFill/>
        </p:spPr>
        <p:txBody>
          <a:bodyPr wrap="none" lIns="54864" rIns="54864" tIns="27432" bIns="27432">
            <a:spAutoFit/>
          </a:bodyPr>
          <a:lstStyle/>
          <a:p>
            <a:pPr>
              <a:defRPr sz="1200" b="1" i="0">
                <a:solidFill>
                  <a:srgbClr val="183E69"/>
                </a:solidFill>
                <a:latin typeface="Aptos"/>
              </a:defRPr>
            </a:pPr>
            <a:r>
              <a:t>4.5/5</a:t>
            </a:r>
          </a:p>
        </p:txBody>
      </p:sp>
      <p:sp>
        <p:nvSpPr>
          <p:cNvPr id="15" name="TextBox 14"/>
          <p:cNvSpPr txBox="1"/>
          <p:nvPr/>
        </p:nvSpPr>
        <p:spPr>
          <a:xfrm>
            <a:off x="731520" y="3474720"/>
            <a:ext cx="1371600" cy="274320"/>
          </a:xfrm>
          <a:prstGeom prst="rect">
            <a:avLst/>
          </a:prstGeom>
          <a:noFill/>
        </p:spPr>
        <p:txBody>
          <a:bodyPr wrap="none" lIns="54864" rIns="54864" tIns="27432" bIns="27432">
            <a:spAutoFit/>
          </a:bodyPr>
          <a:lstStyle/>
          <a:p>
            <a:pPr>
              <a:defRPr sz="1200" b="1" i="0">
                <a:solidFill>
                  <a:srgbClr val="193934"/>
                </a:solidFill>
                <a:latin typeface="Aptos"/>
              </a:defRPr>
            </a:pPr>
            <a:r>
              <a:t>Shared room</a:t>
            </a:r>
          </a:p>
        </p:txBody>
      </p:sp>
      <p:sp>
        <p:nvSpPr>
          <p:cNvPr id="16" name="Rounded Rectangle 15"/>
          <p:cNvSpPr/>
          <p:nvPr/>
        </p:nvSpPr>
        <p:spPr>
          <a:xfrm>
            <a:off x="2148840" y="3474720"/>
            <a:ext cx="3291840" cy="292608"/>
          </a:xfrm>
          <a:prstGeom prst="roundRect">
            <a:avLst/>
          </a:prstGeom>
          <a:solidFill>
            <a:srgbClr val="E1E9E3"/>
          </a:solidFill>
          <a:ln>
            <a:solidFill>
              <a:srgbClr val="E1E9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148840" y="3474720"/>
            <a:ext cx="2765145" cy="292608"/>
          </a:xfrm>
          <a:prstGeom prst="roundRect">
            <a:avLst/>
          </a:prstGeom>
          <a:solidFill>
            <a:srgbClr val="183E69"/>
          </a:solidFill>
          <a:ln>
            <a:solidFill>
              <a:srgbClr val="183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32120" y="3456432"/>
            <a:ext cx="731520" cy="274320"/>
          </a:xfrm>
          <a:prstGeom prst="rect">
            <a:avLst/>
          </a:prstGeom>
          <a:noFill/>
        </p:spPr>
        <p:txBody>
          <a:bodyPr wrap="none" lIns="54864" rIns="54864" tIns="27432" bIns="27432">
            <a:spAutoFit/>
          </a:bodyPr>
          <a:lstStyle/>
          <a:p>
            <a:pPr>
              <a:defRPr sz="1200" b="1" i="0">
                <a:solidFill>
                  <a:srgbClr val="183E69"/>
                </a:solidFill>
                <a:latin typeface="Aptos"/>
              </a:defRPr>
            </a:pPr>
            <a:r>
              <a:t>4.2/5</a:t>
            </a:r>
          </a:p>
        </p:txBody>
      </p:sp>
      <p:sp>
        <p:nvSpPr>
          <p:cNvPr id="19" name="Rounded Rectangle 18"/>
          <p:cNvSpPr/>
          <p:nvPr/>
        </p:nvSpPr>
        <p:spPr>
          <a:xfrm>
            <a:off x="6537960" y="1691640"/>
            <a:ext cx="4663440" cy="10515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37960" y="1691640"/>
            <a:ext cx="64008" cy="1051560"/>
          </a:xfrm>
          <a:prstGeom prst="rect">
            <a:avLst/>
          </a:prstGeom>
          <a:solidFill>
            <a:srgbClr val="183E69"/>
          </a:solidFill>
          <a:ln>
            <a:solidFill>
              <a:srgbClr val="183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1810512"/>
            <a:ext cx="4343400" cy="274320"/>
          </a:xfrm>
          <a:prstGeom prst="rect">
            <a:avLst/>
          </a:prstGeom>
          <a:noFill/>
        </p:spPr>
        <p:txBody>
          <a:bodyPr wrap="none" lIns="54864" rIns="54864" tIns="27432" bIns="27432">
            <a:spAutoFit/>
          </a:bodyPr>
          <a:lstStyle/>
          <a:p>
            <a:pPr>
              <a:defRPr sz="1400" b="1" i="0">
                <a:solidFill>
                  <a:srgbClr val="193934"/>
                </a:solidFill>
                <a:latin typeface="Aptos"/>
              </a:defRPr>
            </a:pPr>
            <a:r>
              <a:t>RATINGS</a:t>
            </a:r>
          </a:p>
        </p:txBody>
      </p:sp>
      <p:sp>
        <p:nvSpPr>
          <p:cNvPr id="22" name="TextBox 21"/>
          <p:cNvSpPr txBox="1"/>
          <p:nvPr/>
        </p:nvSpPr>
        <p:spPr>
          <a:xfrm>
            <a:off x="6720840" y="2148840"/>
            <a:ext cx="4315968" cy="548639"/>
          </a:xfrm>
          <a:prstGeom prst="rect">
            <a:avLst/>
          </a:prstGeom>
          <a:noFill/>
        </p:spPr>
        <p:txBody>
          <a:bodyPr wrap="none" lIns="54864" rIns="54864" tIns="27432" bIns="27432">
            <a:spAutoFit/>
          </a:bodyPr>
          <a:lstStyle/>
          <a:p>
            <a:pPr>
              <a:defRPr sz="1200" b="0" i="0">
                <a:solidFill>
                  <a:srgbClr val="5A6C65"/>
                </a:solidFill>
                <a:latin typeface="Aptos"/>
              </a:defRPr>
            </a:pPr>
            <a:r>
              <a:t>Entire homes look highest, while all three room types appear fairly close.</a:t>
            </a:r>
          </a:p>
        </p:txBody>
      </p:sp>
      <p:sp>
        <p:nvSpPr>
          <p:cNvPr id="23" name="Rounded Rectangle 22"/>
          <p:cNvSpPr/>
          <p:nvPr/>
        </p:nvSpPr>
        <p:spPr>
          <a:xfrm>
            <a:off x="6537960" y="2971800"/>
            <a:ext cx="4663440" cy="10515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37960" y="2971800"/>
            <a:ext cx="64008" cy="1051560"/>
          </a:xfrm>
          <a:prstGeom prst="rect">
            <a:avLst/>
          </a:prstGeom>
          <a:solidFill>
            <a:srgbClr val="3D775B"/>
          </a:solidFill>
          <a:ln>
            <a:solidFill>
              <a:srgbClr val="3D77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0840" y="3090672"/>
            <a:ext cx="4343400" cy="274320"/>
          </a:xfrm>
          <a:prstGeom prst="rect">
            <a:avLst/>
          </a:prstGeom>
          <a:noFill/>
        </p:spPr>
        <p:txBody>
          <a:bodyPr wrap="none" lIns="54864" rIns="54864" tIns="27432" bIns="27432">
            <a:spAutoFit/>
          </a:bodyPr>
          <a:lstStyle/>
          <a:p>
            <a:pPr>
              <a:defRPr sz="1400" b="1" i="0">
                <a:solidFill>
                  <a:srgbClr val="193934"/>
                </a:solidFill>
                <a:latin typeface="Aptos"/>
              </a:defRPr>
            </a:pPr>
            <a:r>
              <a:t>MAP</a:t>
            </a:r>
          </a:p>
        </p:txBody>
      </p:sp>
      <p:sp>
        <p:nvSpPr>
          <p:cNvPr id="26" name="TextBox 25"/>
          <p:cNvSpPr txBox="1"/>
          <p:nvPr/>
        </p:nvSpPr>
        <p:spPr>
          <a:xfrm>
            <a:off x="6720840" y="3429000"/>
            <a:ext cx="4315968" cy="548639"/>
          </a:xfrm>
          <a:prstGeom prst="rect">
            <a:avLst/>
          </a:prstGeom>
          <a:noFill/>
        </p:spPr>
        <p:txBody>
          <a:bodyPr wrap="none" lIns="54864" rIns="54864" tIns="27432" bIns="27432">
            <a:spAutoFit/>
          </a:bodyPr>
          <a:lstStyle/>
          <a:p>
            <a:pPr>
              <a:defRPr sz="1200" b="0" i="0">
                <a:solidFill>
                  <a:srgbClr val="5A6C65"/>
                </a:solidFill>
                <a:latin typeface="Aptos"/>
              </a:defRPr>
            </a:pPr>
            <a:r>
              <a:t>The map places records around the New York region and gives location context.</a:t>
            </a:r>
          </a:p>
        </p:txBody>
      </p:sp>
      <p:sp>
        <p:nvSpPr>
          <p:cNvPr id="27" name="Rounded Rectangle 26"/>
          <p:cNvSpPr/>
          <p:nvPr/>
        </p:nvSpPr>
        <p:spPr>
          <a:xfrm>
            <a:off x="6537960" y="4251960"/>
            <a:ext cx="4663440" cy="10515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37960" y="4251960"/>
            <a:ext cx="64008" cy="1051560"/>
          </a:xfrm>
          <a:prstGeom prst="rect">
            <a:avLst/>
          </a:prstGeom>
          <a:solidFill>
            <a:srgbClr val="EC7D62"/>
          </a:solidFill>
          <a:ln>
            <a:solidFill>
              <a:srgbClr val="EC7D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20840" y="4370832"/>
            <a:ext cx="4343400" cy="274320"/>
          </a:xfrm>
          <a:prstGeom prst="rect">
            <a:avLst/>
          </a:prstGeom>
          <a:noFill/>
        </p:spPr>
        <p:txBody>
          <a:bodyPr wrap="none" lIns="54864" rIns="54864" tIns="27432" bIns="27432">
            <a:spAutoFit/>
          </a:bodyPr>
          <a:lstStyle/>
          <a:p>
            <a:pPr>
              <a:defRPr sz="1400" b="1" i="0">
                <a:solidFill>
                  <a:srgbClr val="193934"/>
                </a:solidFill>
                <a:latin typeface="Aptos"/>
              </a:defRPr>
            </a:pPr>
            <a:r>
              <a:t>NEXT QUESTION</a:t>
            </a:r>
          </a:p>
        </p:txBody>
      </p:sp>
      <p:sp>
        <p:nvSpPr>
          <p:cNvPr id="30" name="TextBox 29"/>
          <p:cNvSpPr txBox="1"/>
          <p:nvPr/>
        </p:nvSpPr>
        <p:spPr>
          <a:xfrm>
            <a:off x="6720840" y="4709160"/>
            <a:ext cx="4315968" cy="548639"/>
          </a:xfrm>
          <a:prstGeom prst="rect">
            <a:avLst/>
          </a:prstGeom>
          <a:noFill/>
        </p:spPr>
        <p:txBody>
          <a:bodyPr wrap="none" lIns="54864" rIns="54864" tIns="27432" bIns="27432">
            <a:spAutoFit/>
          </a:bodyPr>
          <a:lstStyle/>
          <a:p>
            <a:pPr>
              <a:defRPr sz="1200" b="0" i="0">
                <a:solidFill>
                  <a:srgbClr val="5A6C65"/>
                </a:solidFill>
                <a:latin typeface="Aptos"/>
              </a:defRPr>
            </a:pPr>
            <a:r>
              <a:t>Do high-price areas also earn high ratings? Filter by neighbourhood and room type.</a:t>
            </a:r>
          </a:p>
        </p:txBody>
      </p:sp>
      <p:sp>
        <p:nvSpPr>
          <p:cNvPr id="31" name="TextBox 30"/>
          <p:cNvSpPr txBox="1"/>
          <p:nvPr/>
        </p:nvSpPr>
        <p:spPr>
          <a:xfrm>
            <a:off x="731520" y="5669280"/>
            <a:ext cx="10789920" cy="365760"/>
          </a:xfrm>
          <a:prstGeom prst="rect">
            <a:avLst/>
          </a:prstGeom>
          <a:noFill/>
        </p:spPr>
        <p:txBody>
          <a:bodyPr wrap="none" lIns="54864" rIns="54864" tIns="27432" bIns="27432">
            <a:spAutoFit/>
          </a:bodyPr>
          <a:lstStyle/>
          <a:p>
            <a:pPr>
              <a:defRPr sz="1300" b="1" i="0">
                <a:solidFill>
                  <a:srgbClr val="193934"/>
                </a:solidFill>
                <a:latin typeface="Aptos"/>
              </a:defRPr>
            </a:pPr>
            <a:r>
              <a:t>Caution: average rating hides review volume. Compare the number of reviews too.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FF7F1"/>
        </a:solidFill>
        <a:effectLst/>
      </p:bgPr>
    </p:bg>
    <p:spTree>
      <p:nvGrpSpPr>
        <p:cNvPr id="1" name=""/>
        <p:cNvGrpSpPr/>
        <p:nvPr/>
      </p:nvGrpSpPr>
      <p:grpSpPr/>
      <p:sp>
        <p:nvSpPr>
          <p:cNvPr id="2" name="TextBox 1"/>
          <p:cNvSpPr txBox="1"/>
          <p:nvPr/>
        </p:nvSpPr>
        <p:spPr>
          <a:xfrm>
            <a:off x="594360" y="274320"/>
            <a:ext cx="9144000" cy="228600"/>
          </a:xfrm>
          <a:prstGeom prst="rect">
            <a:avLst/>
          </a:prstGeom>
          <a:noFill/>
        </p:spPr>
        <p:txBody>
          <a:bodyPr wrap="none" lIns="54864" rIns="54864" tIns="27432" bIns="27432">
            <a:spAutoFit/>
          </a:bodyPr>
          <a:lstStyle/>
          <a:p>
            <a:pPr>
              <a:defRPr sz="1000" b="1" i="0">
                <a:solidFill>
                  <a:srgbClr val="3D775B"/>
                </a:solidFill>
                <a:latin typeface="Aptos"/>
              </a:defRPr>
            </a:pPr>
            <a:r>
              <a:t>07 / LOCATION LENS</a:t>
            </a:r>
          </a:p>
        </p:txBody>
      </p:sp>
      <p:sp>
        <p:nvSpPr>
          <p:cNvPr id="3" name="TextBox 2"/>
          <p:cNvSpPr txBox="1"/>
          <p:nvPr/>
        </p:nvSpPr>
        <p:spPr>
          <a:xfrm>
            <a:off x="594360" y="566928"/>
            <a:ext cx="10972800" cy="502920"/>
          </a:xfrm>
          <a:prstGeom prst="rect">
            <a:avLst/>
          </a:prstGeom>
          <a:noFill/>
        </p:spPr>
        <p:txBody>
          <a:bodyPr wrap="none" lIns="54864" rIns="54864" tIns="27432" bIns="27432">
            <a:spAutoFit/>
          </a:bodyPr>
          <a:lstStyle/>
          <a:p>
            <a:pPr>
              <a:defRPr sz="2700" b="1" i="0">
                <a:solidFill>
                  <a:srgbClr val="193934"/>
                </a:solidFill>
                <a:latin typeface="Aptos"/>
              </a:defRPr>
            </a:pPr>
            <a:r>
              <a:t>The map is more than decoration</a:t>
            </a:r>
          </a:p>
        </p:txBody>
      </p:sp>
      <p:sp>
        <p:nvSpPr>
          <p:cNvPr id="4" name="TextBox 3"/>
          <p:cNvSpPr txBox="1"/>
          <p:nvPr/>
        </p:nvSpPr>
        <p:spPr>
          <a:xfrm>
            <a:off x="621792" y="1097280"/>
            <a:ext cx="10972800" cy="320040"/>
          </a:xfrm>
          <a:prstGeom prst="rect">
            <a:avLst/>
          </a:prstGeom>
          <a:noFill/>
        </p:spPr>
        <p:txBody>
          <a:bodyPr wrap="none" lIns="54864" rIns="54864" tIns="27432" bIns="27432">
            <a:spAutoFit/>
          </a:bodyPr>
          <a:lstStyle/>
          <a:p>
            <a:pPr>
              <a:defRPr sz="1200" b="0" i="0">
                <a:solidFill>
                  <a:srgbClr val="5A6C65"/>
                </a:solidFill>
                <a:latin typeface="Aptos"/>
              </a:defRPr>
            </a:pPr>
            <a:r>
              <a:t>A geographic view turns separate rows into a spatial story.</a:t>
            </a:r>
          </a:p>
        </p:txBody>
      </p:sp>
      <p:sp>
        <p:nvSpPr>
          <p:cNvPr id="5" name="TextBox 4"/>
          <p:cNvSpPr txBox="1"/>
          <p:nvPr/>
        </p:nvSpPr>
        <p:spPr>
          <a:xfrm>
            <a:off x="11109960" y="274320"/>
            <a:ext cx="457200" cy="274320"/>
          </a:xfrm>
          <a:prstGeom prst="rect">
            <a:avLst/>
          </a:prstGeom>
          <a:noFill/>
        </p:spPr>
        <p:txBody>
          <a:bodyPr wrap="none" lIns="54864" rIns="54864" tIns="27432" bIns="27432">
            <a:spAutoFit/>
          </a:bodyPr>
          <a:lstStyle/>
          <a:p>
            <a:pPr algn="r">
              <a:defRPr sz="1100" b="1" i="0">
                <a:solidFill>
                  <a:srgbClr val="3D775B"/>
                </a:solidFill>
                <a:latin typeface="Aptos"/>
              </a:defRPr>
            </a:pPr>
            <a:r>
              <a:t>08</a:t>
            </a:r>
          </a:p>
        </p:txBody>
      </p:sp>
      <p:sp>
        <p:nvSpPr>
          <p:cNvPr id="6" name="TextBox 5"/>
          <p:cNvSpPr txBox="1"/>
          <p:nvPr/>
        </p:nvSpPr>
        <p:spPr>
          <a:xfrm>
            <a:off x="594360" y="6510528"/>
            <a:ext cx="10972800" cy="182880"/>
          </a:xfrm>
          <a:prstGeom prst="rect">
            <a:avLst/>
          </a:prstGeom>
          <a:noFill/>
        </p:spPr>
        <p:txBody>
          <a:bodyPr wrap="none" lIns="54864" rIns="54864" tIns="27432" bIns="27432">
            <a:spAutoFit/>
          </a:bodyPr>
          <a:lstStyle/>
          <a:p>
            <a:pPr>
              <a:defRPr sz="800" b="1" i="0">
                <a:solidFill>
                  <a:srgbClr val="5A6C65"/>
                </a:solidFill>
                <a:latin typeface="Aptos"/>
              </a:defRPr>
            </a:pPr>
            <a:r>
              <a:t>AIRBNB ANALYTICS  •  CLASSROOM WALKTHROUGH</a:t>
            </a:r>
          </a:p>
        </p:txBody>
      </p:sp>
      <p:sp>
        <p:nvSpPr>
          <p:cNvPr id="7" name="Rounded Rectangle 6"/>
          <p:cNvSpPr/>
          <p:nvPr/>
        </p:nvSpPr>
        <p:spPr>
          <a:xfrm>
            <a:off x="594360" y="1645920"/>
            <a:ext cx="4937760" cy="42519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rbnb_map_crop.png"/>
          <p:cNvPicPr>
            <a:picLocks noChangeAspect="1"/>
          </p:cNvPicPr>
          <p:nvPr/>
        </p:nvPicPr>
        <p:blipFill>
          <a:blip r:embed="rId2"/>
          <a:stretch>
            <a:fillRect/>
          </a:stretch>
        </p:blipFill>
        <p:spPr>
          <a:xfrm>
            <a:off x="749808" y="1783080"/>
            <a:ext cx="4617720" cy="3931920"/>
          </a:xfrm>
          <a:prstGeom prst="rect">
            <a:avLst/>
          </a:prstGeom>
        </p:spPr>
      </p:pic>
      <p:sp>
        <p:nvSpPr>
          <p:cNvPr id="9" name="Rounded Rectangle 8"/>
          <p:cNvSpPr/>
          <p:nvPr/>
        </p:nvSpPr>
        <p:spPr>
          <a:xfrm>
            <a:off x="5943600" y="1737360"/>
            <a:ext cx="5394960" cy="10515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0" y="1737360"/>
            <a:ext cx="64008" cy="1051560"/>
          </a:xfrm>
          <a:prstGeom prst="rect">
            <a:avLst/>
          </a:prstGeom>
          <a:solidFill>
            <a:srgbClr val="3D775B"/>
          </a:solidFill>
          <a:ln>
            <a:solidFill>
              <a:srgbClr val="3D77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0" y="1856231"/>
            <a:ext cx="5074920" cy="274320"/>
          </a:xfrm>
          <a:prstGeom prst="rect">
            <a:avLst/>
          </a:prstGeom>
          <a:noFill/>
        </p:spPr>
        <p:txBody>
          <a:bodyPr wrap="none" lIns="54864" rIns="54864" tIns="27432" bIns="27432">
            <a:spAutoFit/>
          </a:bodyPr>
          <a:lstStyle/>
          <a:p>
            <a:pPr>
              <a:defRPr sz="1400" b="1" i="0">
                <a:solidFill>
                  <a:srgbClr val="193934"/>
                </a:solidFill>
                <a:latin typeface="Aptos"/>
              </a:defRPr>
            </a:pPr>
            <a:r>
              <a:t>CLUSTERING</a:t>
            </a:r>
          </a:p>
        </p:txBody>
      </p:sp>
      <p:sp>
        <p:nvSpPr>
          <p:cNvPr id="12" name="TextBox 11"/>
          <p:cNvSpPr txBox="1"/>
          <p:nvPr/>
        </p:nvSpPr>
        <p:spPr>
          <a:xfrm>
            <a:off x="6126480" y="2194560"/>
            <a:ext cx="5047488" cy="548639"/>
          </a:xfrm>
          <a:prstGeom prst="rect">
            <a:avLst/>
          </a:prstGeom>
          <a:noFill/>
        </p:spPr>
        <p:txBody>
          <a:bodyPr wrap="none" lIns="54864" rIns="54864" tIns="27432" bIns="27432">
            <a:spAutoFit/>
          </a:bodyPr>
          <a:lstStyle/>
          <a:p>
            <a:pPr>
              <a:defRPr sz="1200" b="0" i="0">
                <a:solidFill>
                  <a:srgbClr val="5A6C65"/>
                </a:solidFill>
                <a:latin typeface="Aptos"/>
              </a:defRPr>
            </a:pPr>
            <a:r>
              <a:t>Marker clusters may suggest areas with more listings, if each marker represents one listing.</a:t>
            </a:r>
          </a:p>
        </p:txBody>
      </p:sp>
      <p:sp>
        <p:nvSpPr>
          <p:cNvPr id="13" name="Rounded Rectangle 12"/>
          <p:cNvSpPr/>
          <p:nvPr/>
        </p:nvSpPr>
        <p:spPr>
          <a:xfrm>
            <a:off x="5943600" y="3017520"/>
            <a:ext cx="5394960" cy="10515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0" y="3017520"/>
            <a:ext cx="64008" cy="1051560"/>
          </a:xfrm>
          <a:prstGeom prst="rect">
            <a:avLst/>
          </a:prstGeom>
          <a:solidFill>
            <a:srgbClr val="183E69"/>
          </a:solidFill>
          <a:ln>
            <a:solidFill>
              <a:srgbClr val="183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3136391"/>
            <a:ext cx="5074920" cy="274320"/>
          </a:xfrm>
          <a:prstGeom prst="rect">
            <a:avLst/>
          </a:prstGeom>
          <a:noFill/>
        </p:spPr>
        <p:txBody>
          <a:bodyPr wrap="none" lIns="54864" rIns="54864" tIns="27432" bIns="27432">
            <a:spAutoFit/>
          </a:bodyPr>
          <a:lstStyle/>
          <a:p>
            <a:pPr>
              <a:defRPr sz="1400" b="1" i="0">
                <a:solidFill>
                  <a:srgbClr val="193934"/>
                </a:solidFill>
                <a:latin typeface="Aptos"/>
              </a:defRPr>
            </a:pPr>
            <a:r>
              <a:t>LOCATION STRATEGY</a:t>
            </a:r>
          </a:p>
        </p:txBody>
      </p:sp>
      <p:sp>
        <p:nvSpPr>
          <p:cNvPr id="16" name="TextBox 15"/>
          <p:cNvSpPr txBox="1"/>
          <p:nvPr/>
        </p:nvSpPr>
        <p:spPr>
          <a:xfrm>
            <a:off x="6126480" y="3474720"/>
            <a:ext cx="5047488" cy="548639"/>
          </a:xfrm>
          <a:prstGeom prst="rect">
            <a:avLst/>
          </a:prstGeom>
          <a:noFill/>
        </p:spPr>
        <p:txBody>
          <a:bodyPr wrap="none" lIns="54864" rIns="54864" tIns="27432" bIns="27432">
            <a:spAutoFit/>
          </a:bodyPr>
          <a:lstStyle/>
          <a:p>
            <a:pPr>
              <a:defRPr sz="1200" b="0" i="0">
                <a:solidFill>
                  <a:srgbClr val="5A6C65"/>
                </a:solidFill>
                <a:latin typeface="Aptos"/>
              </a:defRPr>
            </a:pPr>
            <a:r>
              <a:t>Investigate access to transit, attractions and business districts.</a:t>
            </a:r>
          </a:p>
        </p:txBody>
      </p:sp>
      <p:sp>
        <p:nvSpPr>
          <p:cNvPr id="17" name="Rounded Rectangle 16"/>
          <p:cNvSpPr/>
          <p:nvPr/>
        </p:nvSpPr>
        <p:spPr>
          <a:xfrm>
            <a:off x="5943600" y="4297680"/>
            <a:ext cx="5394960" cy="10515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0" y="4297680"/>
            <a:ext cx="64008" cy="1051560"/>
          </a:xfrm>
          <a:prstGeom prst="rect">
            <a:avLst/>
          </a:prstGeom>
          <a:solidFill>
            <a:srgbClr val="EC7D62"/>
          </a:solidFill>
          <a:ln>
            <a:solidFill>
              <a:srgbClr val="EC7D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4416552"/>
            <a:ext cx="5074920" cy="274320"/>
          </a:xfrm>
          <a:prstGeom prst="rect">
            <a:avLst/>
          </a:prstGeom>
          <a:noFill/>
        </p:spPr>
        <p:txBody>
          <a:bodyPr wrap="none" lIns="54864" rIns="54864" tIns="27432" bIns="27432">
            <a:spAutoFit/>
          </a:bodyPr>
          <a:lstStyle/>
          <a:p>
            <a:pPr>
              <a:defRPr sz="1400" b="1" i="0">
                <a:solidFill>
                  <a:srgbClr val="193934"/>
                </a:solidFill>
                <a:latin typeface="Aptos"/>
              </a:defRPr>
            </a:pPr>
            <a:r>
              <a:t>NEXT STEP</a:t>
            </a:r>
          </a:p>
        </p:txBody>
      </p:sp>
      <p:sp>
        <p:nvSpPr>
          <p:cNvPr id="20" name="TextBox 19"/>
          <p:cNvSpPr txBox="1"/>
          <p:nvPr/>
        </p:nvSpPr>
        <p:spPr>
          <a:xfrm>
            <a:off x="6126480" y="4754880"/>
            <a:ext cx="5047488" cy="548639"/>
          </a:xfrm>
          <a:prstGeom prst="rect">
            <a:avLst/>
          </a:prstGeom>
          <a:noFill/>
        </p:spPr>
        <p:txBody>
          <a:bodyPr wrap="none" lIns="54864" rIns="54864" tIns="27432" bIns="27432">
            <a:spAutoFit/>
          </a:bodyPr>
          <a:lstStyle/>
          <a:p>
            <a:pPr>
              <a:defRPr sz="1200" b="0" i="0">
                <a:solidFill>
                  <a:srgbClr val="5A6C65"/>
                </a:solidFill>
                <a:latin typeface="Aptos"/>
              </a:defRPr>
            </a:pPr>
            <a:r>
              <a:t>Filter by neighbourhood, then compare median price and ratings by area.</a:t>
            </a:r>
          </a:p>
        </p:txBody>
      </p:sp>
      <p:sp>
        <p:nvSpPr>
          <p:cNvPr id="21" name="TextBox 20"/>
          <p:cNvSpPr txBox="1"/>
          <p:nvPr/>
        </p:nvSpPr>
        <p:spPr>
          <a:xfrm>
            <a:off x="731520" y="6035040"/>
            <a:ext cx="10789920" cy="274320"/>
          </a:xfrm>
          <a:prstGeom prst="rect">
            <a:avLst/>
          </a:prstGeom>
          <a:noFill/>
        </p:spPr>
        <p:txBody>
          <a:bodyPr wrap="none" lIns="54864" rIns="54864" tIns="27432" bIns="27432">
            <a:spAutoFit/>
          </a:bodyPr>
          <a:lstStyle/>
          <a:p>
            <a:pPr>
              <a:defRPr sz="1200" b="1" i="1">
                <a:solidFill>
                  <a:srgbClr val="193934"/>
                </a:solidFill>
                <a:latin typeface="Aptos"/>
              </a:defRPr>
            </a:pPr>
            <a:r>
              <a:t>Ask: “If two listings cost the same, what location factors could make one more attractive?”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FF7F1"/>
        </a:solidFill>
        <a:effectLst/>
      </p:bgPr>
    </p:bg>
    <p:spTree>
      <p:nvGrpSpPr>
        <p:cNvPr id="1" name=""/>
        <p:cNvGrpSpPr/>
        <p:nvPr/>
      </p:nvGrpSpPr>
      <p:grpSpPr/>
      <p:sp>
        <p:nvSpPr>
          <p:cNvPr id="2" name="TextBox 1"/>
          <p:cNvSpPr txBox="1"/>
          <p:nvPr/>
        </p:nvSpPr>
        <p:spPr>
          <a:xfrm>
            <a:off x="594360" y="274320"/>
            <a:ext cx="9144000" cy="228600"/>
          </a:xfrm>
          <a:prstGeom prst="rect">
            <a:avLst/>
          </a:prstGeom>
          <a:noFill/>
        </p:spPr>
        <p:txBody>
          <a:bodyPr wrap="none" lIns="54864" rIns="54864" tIns="27432" bIns="27432">
            <a:spAutoFit/>
          </a:bodyPr>
          <a:lstStyle/>
          <a:p>
            <a:pPr>
              <a:defRPr sz="1000" b="1" i="0">
                <a:solidFill>
                  <a:srgbClr val="3D775B"/>
                </a:solidFill>
                <a:latin typeface="Aptos"/>
              </a:defRPr>
            </a:pPr>
            <a:r>
              <a:t>08 / INSIGHTS</a:t>
            </a:r>
          </a:p>
        </p:txBody>
      </p:sp>
      <p:sp>
        <p:nvSpPr>
          <p:cNvPr id="3" name="TextBox 2"/>
          <p:cNvSpPr txBox="1"/>
          <p:nvPr/>
        </p:nvSpPr>
        <p:spPr>
          <a:xfrm>
            <a:off x="594360" y="566928"/>
            <a:ext cx="10972800" cy="502920"/>
          </a:xfrm>
          <a:prstGeom prst="rect">
            <a:avLst/>
          </a:prstGeom>
          <a:noFill/>
        </p:spPr>
        <p:txBody>
          <a:bodyPr wrap="none" lIns="54864" rIns="54864" tIns="27432" bIns="27432">
            <a:spAutoFit/>
          </a:bodyPr>
          <a:lstStyle/>
          <a:p>
            <a:pPr>
              <a:defRPr sz="2700" b="1" i="0">
                <a:solidFill>
                  <a:srgbClr val="193934"/>
                </a:solidFill>
                <a:latin typeface="Aptos"/>
              </a:defRPr>
            </a:pPr>
            <a:r>
              <a:t>What can we responsibly conclude?</a:t>
            </a:r>
          </a:p>
        </p:txBody>
      </p:sp>
      <p:sp>
        <p:nvSpPr>
          <p:cNvPr id="4" name="TextBox 3"/>
          <p:cNvSpPr txBox="1"/>
          <p:nvPr/>
        </p:nvSpPr>
        <p:spPr>
          <a:xfrm>
            <a:off x="621792" y="1097280"/>
            <a:ext cx="10972800" cy="320040"/>
          </a:xfrm>
          <a:prstGeom prst="rect">
            <a:avLst/>
          </a:prstGeom>
          <a:noFill/>
        </p:spPr>
        <p:txBody>
          <a:bodyPr wrap="none" lIns="54864" rIns="54864" tIns="27432" bIns="27432">
            <a:spAutoFit/>
          </a:bodyPr>
          <a:lstStyle/>
          <a:p>
            <a:pPr>
              <a:defRPr sz="1200" b="0" i="0">
                <a:solidFill>
                  <a:srgbClr val="5A6C65"/>
                </a:solidFill>
                <a:latin typeface="Aptos"/>
              </a:defRPr>
            </a:pPr>
            <a:r>
              <a:t>Separate what the dashboard shows from what still needs checking.</a:t>
            </a:r>
          </a:p>
        </p:txBody>
      </p:sp>
      <p:sp>
        <p:nvSpPr>
          <p:cNvPr id="5" name="TextBox 4"/>
          <p:cNvSpPr txBox="1"/>
          <p:nvPr/>
        </p:nvSpPr>
        <p:spPr>
          <a:xfrm>
            <a:off x="11109960" y="274320"/>
            <a:ext cx="457200" cy="274320"/>
          </a:xfrm>
          <a:prstGeom prst="rect">
            <a:avLst/>
          </a:prstGeom>
          <a:noFill/>
        </p:spPr>
        <p:txBody>
          <a:bodyPr wrap="none" lIns="54864" rIns="54864" tIns="27432" bIns="27432">
            <a:spAutoFit/>
          </a:bodyPr>
          <a:lstStyle/>
          <a:p>
            <a:pPr algn="r">
              <a:defRPr sz="1100" b="1" i="0">
                <a:solidFill>
                  <a:srgbClr val="3D775B"/>
                </a:solidFill>
                <a:latin typeface="Aptos"/>
              </a:defRPr>
            </a:pPr>
            <a:r>
              <a:t>09</a:t>
            </a:r>
          </a:p>
        </p:txBody>
      </p:sp>
      <p:sp>
        <p:nvSpPr>
          <p:cNvPr id="6" name="TextBox 5"/>
          <p:cNvSpPr txBox="1"/>
          <p:nvPr/>
        </p:nvSpPr>
        <p:spPr>
          <a:xfrm>
            <a:off x="594360" y="6510528"/>
            <a:ext cx="10972800" cy="182880"/>
          </a:xfrm>
          <a:prstGeom prst="rect">
            <a:avLst/>
          </a:prstGeom>
          <a:noFill/>
        </p:spPr>
        <p:txBody>
          <a:bodyPr wrap="none" lIns="54864" rIns="54864" tIns="27432" bIns="27432">
            <a:spAutoFit/>
          </a:bodyPr>
          <a:lstStyle/>
          <a:p>
            <a:pPr>
              <a:defRPr sz="800" b="1" i="0">
                <a:solidFill>
                  <a:srgbClr val="5A6C65"/>
                </a:solidFill>
                <a:latin typeface="Aptos"/>
              </a:defRPr>
            </a:pPr>
            <a:r>
              <a:t>AIRBNB ANALYTICS  •  CLASSROOM WALKTHROUGH</a:t>
            </a:r>
          </a:p>
        </p:txBody>
      </p:sp>
      <p:sp>
        <p:nvSpPr>
          <p:cNvPr id="7" name="Rounded Rectangle 6"/>
          <p:cNvSpPr/>
          <p:nvPr/>
        </p:nvSpPr>
        <p:spPr>
          <a:xfrm>
            <a:off x="640080" y="1691640"/>
            <a:ext cx="3520440" cy="13716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64008" cy="1371600"/>
          </a:xfrm>
          <a:prstGeom prst="rect">
            <a:avLst/>
          </a:prstGeom>
          <a:solidFill>
            <a:srgbClr val="3D775B"/>
          </a:solidFill>
          <a:ln>
            <a:solidFill>
              <a:srgbClr val="3D77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810512"/>
            <a:ext cx="3200400" cy="274320"/>
          </a:xfrm>
          <a:prstGeom prst="rect">
            <a:avLst/>
          </a:prstGeom>
          <a:noFill/>
        </p:spPr>
        <p:txBody>
          <a:bodyPr wrap="none" lIns="54864" rIns="54864" tIns="27432" bIns="27432">
            <a:spAutoFit/>
          </a:bodyPr>
          <a:lstStyle/>
          <a:p>
            <a:pPr>
              <a:defRPr sz="1400" b="1" i="0">
                <a:solidFill>
                  <a:srgbClr val="193934"/>
                </a:solidFill>
                <a:latin typeface="Aptos"/>
              </a:defRPr>
            </a:pPr>
            <a:r>
              <a:t>INSIGHT 1</a:t>
            </a:r>
          </a:p>
        </p:txBody>
      </p:sp>
      <p:sp>
        <p:nvSpPr>
          <p:cNvPr id="10" name="TextBox 9"/>
          <p:cNvSpPr txBox="1"/>
          <p:nvPr/>
        </p:nvSpPr>
        <p:spPr>
          <a:xfrm>
            <a:off x="822959" y="2148840"/>
            <a:ext cx="3172968" cy="868680"/>
          </a:xfrm>
          <a:prstGeom prst="rect">
            <a:avLst/>
          </a:prstGeom>
          <a:noFill/>
        </p:spPr>
        <p:txBody>
          <a:bodyPr wrap="none" lIns="54864" rIns="54864" tIns="27432" bIns="27432">
            <a:spAutoFit/>
          </a:bodyPr>
          <a:lstStyle/>
          <a:p>
            <a:pPr>
              <a:defRPr sz="1200" b="0" i="0">
                <a:solidFill>
                  <a:srgbClr val="5A6C65"/>
                </a:solidFill>
                <a:latin typeface="Aptos"/>
              </a:defRPr>
            </a:pPr>
            <a:r>
              <a:t>Entire homes and private rooms make up most of the room-type mix shown.</a:t>
            </a:r>
          </a:p>
        </p:txBody>
      </p:sp>
      <p:sp>
        <p:nvSpPr>
          <p:cNvPr id="11" name="Rounded Rectangle 10"/>
          <p:cNvSpPr/>
          <p:nvPr/>
        </p:nvSpPr>
        <p:spPr>
          <a:xfrm>
            <a:off x="4343400" y="1691640"/>
            <a:ext cx="3520440" cy="13716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691640"/>
            <a:ext cx="64008" cy="1371600"/>
          </a:xfrm>
          <a:prstGeom prst="rect">
            <a:avLst/>
          </a:prstGeom>
          <a:solidFill>
            <a:srgbClr val="183E69"/>
          </a:solidFill>
          <a:ln>
            <a:solidFill>
              <a:srgbClr val="183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810512"/>
            <a:ext cx="3200400" cy="274320"/>
          </a:xfrm>
          <a:prstGeom prst="rect">
            <a:avLst/>
          </a:prstGeom>
          <a:noFill/>
        </p:spPr>
        <p:txBody>
          <a:bodyPr wrap="none" lIns="54864" rIns="54864" tIns="27432" bIns="27432">
            <a:spAutoFit/>
          </a:bodyPr>
          <a:lstStyle/>
          <a:p>
            <a:pPr>
              <a:defRPr sz="1400" b="1" i="0">
                <a:solidFill>
                  <a:srgbClr val="193934"/>
                </a:solidFill>
                <a:latin typeface="Aptos"/>
              </a:defRPr>
            </a:pPr>
            <a:r>
              <a:t>INSIGHT 2</a:t>
            </a:r>
          </a:p>
        </p:txBody>
      </p:sp>
      <p:sp>
        <p:nvSpPr>
          <p:cNvPr id="14" name="TextBox 13"/>
          <p:cNvSpPr txBox="1"/>
          <p:nvPr/>
        </p:nvSpPr>
        <p:spPr>
          <a:xfrm>
            <a:off x="4526280" y="2148840"/>
            <a:ext cx="3172968" cy="868680"/>
          </a:xfrm>
          <a:prstGeom prst="rect">
            <a:avLst/>
          </a:prstGeom>
          <a:noFill/>
        </p:spPr>
        <p:txBody>
          <a:bodyPr wrap="none" lIns="54864" rIns="54864" tIns="27432" bIns="27432">
            <a:spAutoFit/>
          </a:bodyPr>
          <a:lstStyle/>
          <a:p>
            <a:pPr>
              <a:defRPr sz="1200" b="0" i="0">
                <a:solidFill>
                  <a:srgbClr val="5A6C65"/>
                </a:solidFill>
                <a:latin typeface="Aptos"/>
              </a:defRPr>
            </a:pPr>
            <a:r>
              <a:t>Average nightly price differs across the neighbourhoods displayed.</a:t>
            </a:r>
          </a:p>
        </p:txBody>
      </p:sp>
      <p:sp>
        <p:nvSpPr>
          <p:cNvPr id="15" name="Rounded Rectangle 14"/>
          <p:cNvSpPr/>
          <p:nvPr/>
        </p:nvSpPr>
        <p:spPr>
          <a:xfrm>
            <a:off x="8046720" y="1691640"/>
            <a:ext cx="3520440" cy="13716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691640"/>
            <a:ext cx="64008" cy="1371600"/>
          </a:xfrm>
          <a:prstGeom prst="rect">
            <a:avLst/>
          </a:prstGeom>
          <a:solidFill>
            <a:srgbClr val="EC7D62"/>
          </a:solidFill>
          <a:ln>
            <a:solidFill>
              <a:srgbClr val="EC7D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1810512"/>
            <a:ext cx="3200400" cy="274320"/>
          </a:xfrm>
          <a:prstGeom prst="rect">
            <a:avLst/>
          </a:prstGeom>
          <a:noFill/>
        </p:spPr>
        <p:txBody>
          <a:bodyPr wrap="none" lIns="54864" rIns="54864" tIns="27432" bIns="27432">
            <a:spAutoFit/>
          </a:bodyPr>
          <a:lstStyle/>
          <a:p>
            <a:pPr>
              <a:defRPr sz="1400" b="1" i="0">
                <a:solidFill>
                  <a:srgbClr val="193934"/>
                </a:solidFill>
                <a:latin typeface="Aptos"/>
              </a:defRPr>
            </a:pPr>
            <a:r>
              <a:t>INSIGHT 3</a:t>
            </a:r>
          </a:p>
        </p:txBody>
      </p:sp>
      <p:sp>
        <p:nvSpPr>
          <p:cNvPr id="18" name="TextBox 17"/>
          <p:cNvSpPr txBox="1"/>
          <p:nvPr/>
        </p:nvSpPr>
        <p:spPr>
          <a:xfrm>
            <a:off x="8229600" y="2148840"/>
            <a:ext cx="3172968" cy="868680"/>
          </a:xfrm>
          <a:prstGeom prst="rect">
            <a:avLst/>
          </a:prstGeom>
          <a:noFill/>
        </p:spPr>
        <p:txBody>
          <a:bodyPr wrap="none" lIns="54864" rIns="54864" tIns="27432" bIns="27432">
            <a:spAutoFit/>
          </a:bodyPr>
          <a:lstStyle/>
          <a:p>
            <a:pPr>
              <a:defRPr sz="1200" b="0" i="0">
                <a:solidFill>
                  <a:srgbClr val="5A6C65"/>
                </a:solidFill>
                <a:latin typeface="Aptos"/>
              </a:defRPr>
            </a:pPr>
            <a:r>
              <a:t>Ratings appear fairly close, with entire homes slightly higher in this view.</a:t>
            </a:r>
          </a:p>
        </p:txBody>
      </p:sp>
      <p:sp>
        <p:nvSpPr>
          <p:cNvPr id="19" name="Rounded Rectangle 18"/>
          <p:cNvSpPr/>
          <p:nvPr/>
        </p:nvSpPr>
        <p:spPr>
          <a:xfrm>
            <a:off x="640080" y="3383280"/>
            <a:ext cx="3520440" cy="13716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3383280"/>
            <a:ext cx="64008" cy="1371600"/>
          </a:xfrm>
          <a:prstGeom prst="rect">
            <a:avLst/>
          </a:prstGeom>
          <a:solidFill>
            <a:srgbClr val="EC7D62"/>
          </a:solidFill>
          <a:ln>
            <a:solidFill>
              <a:srgbClr val="EC7D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3502152"/>
            <a:ext cx="3200400" cy="274320"/>
          </a:xfrm>
          <a:prstGeom prst="rect">
            <a:avLst/>
          </a:prstGeom>
          <a:noFill/>
        </p:spPr>
        <p:txBody>
          <a:bodyPr wrap="none" lIns="54864" rIns="54864" tIns="27432" bIns="27432">
            <a:spAutoFit/>
          </a:bodyPr>
          <a:lstStyle/>
          <a:p>
            <a:pPr>
              <a:defRPr sz="1400" b="1" i="0">
                <a:solidFill>
                  <a:srgbClr val="193934"/>
                </a:solidFill>
                <a:latin typeface="Aptos"/>
              </a:defRPr>
            </a:pPr>
            <a:r>
              <a:t>VERIFY FIRST</a:t>
            </a:r>
          </a:p>
        </p:txBody>
      </p:sp>
      <p:sp>
        <p:nvSpPr>
          <p:cNvPr id="22" name="TextBox 21"/>
          <p:cNvSpPr txBox="1"/>
          <p:nvPr/>
        </p:nvSpPr>
        <p:spPr>
          <a:xfrm>
            <a:off x="822959" y="3840480"/>
            <a:ext cx="3172968" cy="868680"/>
          </a:xfrm>
          <a:prstGeom prst="rect">
            <a:avLst/>
          </a:prstGeom>
          <a:noFill/>
        </p:spPr>
        <p:txBody>
          <a:bodyPr wrap="none" lIns="54864" rIns="54864" tIns="27432" bIns="27432">
            <a:spAutoFit/>
          </a:bodyPr>
          <a:lstStyle/>
          <a:p>
            <a:pPr>
              <a:defRPr sz="1200" b="0" i="0">
                <a:solidFill>
                  <a:srgbClr val="5A6C65"/>
                </a:solidFill>
                <a:latin typeface="Aptos"/>
              </a:defRPr>
            </a:pPr>
            <a:r>
              <a:t>Several visuals sum listing IDs. IDs should normally be counted, not summed.</a:t>
            </a:r>
          </a:p>
        </p:txBody>
      </p:sp>
      <p:sp>
        <p:nvSpPr>
          <p:cNvPr id="23" name="Rounded Rectangle 22"/>
          <p:cNvSpPr/>
          <p:nvPr/>
        </p:nvSpPr>
        <p:spPr>
          <a:xfrm>
            <a:off x="4343400" y="3383280"/>
            <a:ext cx="3520440" cy="13716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43400" y="3383280"/>
            <a:ext cx="64008" cy="1371600"/>
          </a:xfrm>
          <a:prstGeom prst="rect">
            <a:avLst/>
          </a:prstGeom>
          <a:solidFill>
            <a:srgbClr val="EABE5F"/>
          </a:solidFill>
          <a:ln>
            <a:solidFill>
              <a:srgbClr val="EABE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26280" y="3502152"/>
            <a:ext cx="3200400" cy="274320"/>
          </a:xfrm>
          <a:prstGeom prst="rect">
            <a:avLst/>
          </a:prstGeom>
          <a:noFill/>
        </p:spPr>
        <p:txBody>
          <a:bodyPr wrap="none" lIns="54864" rIns="54864" tIns="27432" bIns="27432">
            <a:spAutoFit/>
          </a:bodyPr>
          <a:lstStyle/>
          <a:p>
            <a:pPr>
              <a:defRPr sz="1400" b="1" i="0">
                <a:solidFill>
                  <a:srgbClr val="193934"/>
                </a:solidFill>
                <a:latin typeface="Aptos"/>
              </a:defRPr>
            </a:pPr>
            <a:r>
              <a:t>VERIFY SECOND</a:t>
            </a:r>
          </a:p>
        </p:txBody>
      </p:sp>
      <p:sp>
        <p:nvSpPr>
          <p:cNvPr id="26" name="TextBox 25"/>
          <p:cNvSpPr txBox="1"/>
          <p:nvPr/>
        </p:nvSpPr>
        <p:spPr>
          <a:xfrm>
            <a:off x="4526280" y="3840480"/>
            <a:ext cx="3172968" cy="868680"/>
          </a:xfrm>
          <a:prstGeom prst="rect">
            <a:avLst/>
          </a:prstGeom>
          <a:noFill/>
        </p:spPr>
        <p:txBody>
          <a:bodyPr wrap="none" lIns="54864" rIns="54864" tIns="27432" bIns="27432">
            <a:spAutoFit/>
          </a:bodyPr>
          <a:lstStyle/>
          <a:p>
            <a:pPr>
              <a:defRPr sz="1200" b="0" i="0">
                <a:solidFill>
                  <a:srgbClr val="5A6C65"/>
                </a:solidFill>
                <a:latin typeface="Aptos"/>
              </a:defRPr>
            </a:pPr>
            <a:r>
              <a:t>Some labels are cut off; confirm fields, units and filters.</a:t>
            </a:r>
          </a:p>
        </p:txBody>
      </p:sp>
      <p:sp>
        <p:nvSpPr>
          <p:cNvPr id="27" name="Rounded Rectangle 26"/>
          <p:cNvSpPr/>
          <p:nvPr/>
        </p:nvSpPr>
        <p:spPr>
          <a:xfrm>
            <a:off x="8046720" y="3383280"/>
            <a:ext cx="3520440" cy="13716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46720" y="3383280"/>
            <a:ext cx="64008" cy="1371600"/>
          </a:xfrm>
          <a:prstGeom prst="rect">
            <a:avLst/>
          </a:prstGeom>
          <a:solidFill>
            <a:srgbClr val="3D775B"/>
          </a:solidFill>
          <a:ln>
            <a:solidFill>
              <a:srgbClr val="3D77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0" y="3502152"/>
            <a:ext cx="3200400" cy="274320"/>
          </a:xfrm>
          <a:prstGeom prst="rect">
            <a:avLst/>
          </a:prstGeom>
          <a:noFill/>
        </p:spPr>
        <p:txBody>
          <a:bodyPr wrap="none" lIns="54864" rIns="54864" tIns="27432" bIns="27432">
            <a:spAutoFit/>
          </a:bodyPr>
          <a:lstStyle/>
          <a:p>
            <a:pPr>
              <a:defRPr sz="1400" b="1" i="0">
                <a:solidFill>
                  <a:srgbClr val="193934"/>
                </a:solidFill>
                <a:latin typeface="Aptos"/>
              </a:defRPr>
            </a:pPr>
            <a:r>
              <a:t>VERIFY THIRD</a:t>
            </a:r>
          </a:p>
        </p:txBody>
      </p:sp>
      <p:sp>
        <p:nvSpPr>
          <p:cNvPr id="30" name="TextBox 29"/>
          <p:cNvSpPr txBox="1"/>
          <p:nvPr/>
        </p:nvSpPr>
        <p:spPr>
          <a:xfrm>
            <a:off x="8229600" y="3840480"/>
            <a:ext cx="3172968" cy="868680"/>
          </a:xfrm>
          <a:prstGeom prst="rect">
            <a:avLst/>
          </a:prstGeom>
          <a:noFill/>
        </p:spPr>
        <p:txBody>
          <a:bodyPr wrap="none" lIns="54864" rIns="54864" tIns="27432" bIns="27432">
            <a:spAutoFit/>
          </a:bodyPr>
          <a:lstStyle/>
          <a:p>
            <a:pPr>
              <a:defRPr sz="1200" b="0" i="0">
                <a:solidFill>
                  <a:srgbClr val="5A6C65"/>
                </a:solidFill>
                <a:latin typeface="Aptos"/>
              </a:defRPr>
            </a:pPr>
            <a:r>
              <a:t>Price averages can be skewed; median is a useful companion.</a:t>
            </a:r>
          </a:p>
        </p:txBody>
      </p:sp>
      <p:sp>
        <p:nvSpPr>
          <p:cNvPr id="31" name="TextBox 30"/>
          <p:cNvSpPr txBox="1"/>
          <p:nvPr/>
        </p:nvSpPr>
        <p:spPr>
          <a:xfrm>
            <a:off x="731520" y="5532120"/>
            <a:ext cx="10789920" cy="411480"/>
          </a:xfrm>
          <a:prstGeom prst="rect">
            <a:avLst/>
          </a:prstGeom>
          <a:noFill/>
        </p:spPr>
        <p:txBody>
          <a:bodyPr wrap="none" lIns="54864" rIns="54864" tIns="27432" bIns="27432">
            <a:spAutoFit/>
          </a:bodyPr>
          <a:lstStyle/>
          <a:p>
            <a:pPr>
              <a:defRPr sz="1500" b="1" i="0">
                <a:solidFill>
                  <a:srgbClr val="193934"/>
                </a:solidFill>
                <a:latin typeface="Aptos"/>
              </a:defRPr>
            </a:pPr>
            <a:r>
              <a:t>Business takeaway: use this dashboard to spot patterns and generate questions — not claim causation.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FF7F1"/>
        </a:solidFill>
        <a:effectLst/>
      </p:bgPr>
    </p:bg>
    <p:spTree>
      <p:nvGrpSpPr>
        <p:cNvPr id="1" name=""/>
        <p:cNvGrpSpPr/>
        <p:nvPr/>
      </p:nvGrpSpPr>
      <p:grpSpPr/>
      <p:sp>
        <p:nvSpPr>
          <p:cNvPr id="2" name="TextBox 1"/>
          <p:cNvSpPr txBox="1"/>
          <p:nvPr/>
        </p:nvSpPr>
        <p:spPr>
          <a:xfrm>
            <a:off x="594360" y="274320"/>
            <a:ext cx="9144000" cy="228600"/>
          </a:xfrm>
          <a:prstGeom prst="rect">
            <a:avLst/>
          </a:prstGeom>
          <a:noFill/>
        </p:spPr>
        <p:txBody>
          <a:bodyPr wrap="none" lIns="54864" rIns="54864" tIns="27432" bIns="27432">
            <a:spAutoFit/>
          </a:bodyPr>
          <a:lstStyle/>
          <a:p>
            <a:pPr>
              <a:defRPr sz="1000" b="1" i="0">
                <a:solidFill>
                  <a:srgbClr val="3D775B"/>
                </a:solidFill>
                <a:latin typeface="Aptos"/>
              </a:defRPr>
            </a:pPr>
            <a:r>
              <a:t>09 / ANALYST'S UPGRADE</a:t>
            </a:r>
          </a:p>
        </p:txBody>
      </p:sp>
      <p:sp>
        <p:nvSpPr>
          <p:cNvPr id="3" name="TextBox 2"/>
          <p:cNvSpPr txBox="1"/>
          <p:nvPr/>
        </p:nvSpPr>
        <p:spPr>
          <a:xfrm>
            <a:off x="594360" y="566928"/>
            <a:ext cx="10972800" cy="502920"/>
          </a:xfrm>
          <a:prstGeom prst="rect">
            <a:avLst/>
          </a:prstGeom>
          <a:noFill/>
        </p:spPr>
        <p:txBody>
          <a:bodyPr wrap="none" lIns="54864" rIns="54864" tIns="27432" bIns="27432">
            <a:spAutoFit/>
          </a:bodyPr>
          <a:lstStyle/>
          <a:p>
            <a:pPr>
              <a:defRPr sz="2700" b="1" i="0">
                <a:solidFill>
                  <a:srgbClr val="193934"/>
                </a:solidFill>
                <a:latin typeface="Aptos"/>
              </a:defRPr>
            </a:pPr>
            <a:r>
              <a:t>How I would make this dashboard stronger</a:t>
            </a:r>
          </a:p>
        </p:txBody>
      </p:sp>
      <p:sp>
        <p:nvSpPr>
          <p:cNvPr id="4" name="TextBox 3"/>
          <p:cNvSpPr txBox="1"/>
          <p:nvPr/>
        </p:nvSpPr>
        <p:spPr>
          <a:xfrm>
            <a:off x="621792" y="1097280"/>
            <a:ext cx="10972800" cy="320040"/>
          </a:xfrm>
          <a:prstGeom prst="rect">
            <a:avLst/>
          </a:prstGeom>
          <a:noFill/>
        </p:spPr>
        <p:txBody>
          <a:bodyPr wrap="none" lIns="54864" rIns="54864" tIns="27432" bIns="27432">
            <a:spAutoFit/>
          </a:bodyPr>
          <a:lstStyle/>
          <a:p>
            <a:pPr>
              <a:defRPr sz="1200" b="0" i="0">
                <a:solidFill>
                  <a:srgbClr val="5A6C65"/>
                </a:solidFill>
                <a:latin typeface="Aptos"/>
              </a:defRPr>
            </a:pPr>
            <a:r>
              <a:t>A distinctive dashboard makes decisions easy and keeps data trustworthy.</a:t>
            </a:r>
          </a:p>
        </p:txBody>
      </p:sp>
      <p:sp>
        <p:nvSpPr>
          <p:cNvPr id="5" name="TextBox 4"/>
          <p:cNvSpPr txBox="1"/>
          <p:nvPr/>
        </p:nvSpPr>
        <p:spPr>
          <a:xfrm>
            <a:off x="11109960" y="274320"/>
            <a:ext cx="457200" cy="274320"/>
          </a:xfrm>
          <a:prstGeom prst="rect">
            <a:avLst/>
          </a:prstGeom>
          <a:noFill/>
        </p:spPr>
        <p:txBody>
          <a:bodyPr wrap="none" lIns="54864" rIns="54864" tIns="27432" bIns="27432">
            <a:spAutoFit/>
          </a:bodyPr>
          <a:lstStyle/>
          <a:p>
            <a:pPr algn="r">
              <a:defRPr sz="1100" b="1" i="0">
                <a:solidFill>
                  <a:srgbClr val="3D775B"/>
                </a:solidFill>
                <a:latin typeface="Aptos"/>
              </a:defRPr>
            </a:pPr>
            <a:r>
              <a:t>10</a:t>
            </a:r>
          </a:p>
        </p:txBody>
      </p:sp>
      <p:sp>
        <p:nvSpPr>
          <p:cNvPr id="6" name="TextBox 5"/>
          <p:cNvSpPr txBox="1"/>
          <p:nvPr/>
        </p:nvSpPr>
        <p:spPr>
          <a:xfrm>
            <a:off x="594360" y="6510528"/>
            <a:ext cx="10972800" cy="182880"/>
          </a:xfrm>
          <a:prstGeom prst="rect">
            <a:avLst/>
          </a:prstGeom>
          <a:noFill/>
        </p:spPr>
        <p:txBody>
          <a:bodyPr wrap="none" lIns="54864" rIns="54864" tIns="27432" bIns="27432">
            <a:spAutoFit/>
          </a:bodyPr>
          <a:lstStyle/>
          <a:p>
            <a:pPr>
              <a:defRPr sz="800" b="1" i="0">
                <a:solidFill>
                  <a:srgbClr val="5A6C65"/>
                </a:solidFill>
                <a:latin typeface="Aptos"/>
              </a:defRPr>
            </a:pPr>
            <a:r>
              <a:t>AIRBNB ANALYTICS  •  CLASSROOM WALKTHROUGH</a:t>
            </a:r>
          </a:p>
        </p:txBody>
      </p:sp>
      <p:sp>
        <p:nvSpPr>
          <p:cNvPr id="7" name="Oval 6"/>
          <p:cNvSpPr/>
          <p:nvPr/>
        </p:nvSpPr>
        <p:spPr>
          <a:xfrm>
            <a:off x="749808" y="1645920"/>
            <a:ext cx="438912" cy="438912"/>
          </a:xfrm>
          <a:prstGeom prst="ellipse">
            <a:avLst/>
          </a:prstGeom>
          <a:solidFill>
            <a:srgbClr val="EC7D62"/>
          </a:solidFill>
          <a:ln>
            <a:solidFill>
              <a:srgbClr val="EC7D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55648"/>
            <a:ext cx="384048" cy="164592"/>
          </a:xfrm>
          <a:prstGeom prst="rect">
            <a:avLst/>
          </a:prstGeom>
          <a:noFill/>
        </p:spPr>
        <p:txBody>
          <a:bodyPr wrap="none" lIns="54864" rIns="54864" tIns="27432" bIns="27432">
            <a:spAutoFit/>
          </a:bodyPr>
          <a:lstStyle/>
          <a:p>
            <a:pPr algn="ctr">
              <a:defRPr sz="900" b="1" i="0">
                <a:solidFill>
                  <a:srgbClr val="FFFFFF"/>
                </a:solidFill>
                <a:latin typeface="Aptos"/>
              </a:defRPr>
            </a:pPr>
            <a:r>
              <a:t>01</a:t>
            </a:r>
          </a:p>
        </p:txBody>
      </p:sp>
      <p:sp>
        <p:nvSpPr>
          <p:cNvPr id="9" name="TextBox 8"/>
          <p:cNvSpPr txBox="1"/>
          <p:nvPr/>
        </p:nvSpPr>
        <p:spPr>
          <a:xfrm>
            <a:off x="1417320" y="1627632"/>
            <a:ext cx="2651760" cy="274320"/>
          </a:xfrm>
          <a:prstGeom prst="rect">
            <a:avLst/>
          </a:prstGeom>
          <a:noFill/>
        </p:spPr>
        <p:txBody>
          <a:bodyPr wrap="none" lIns="54864" rIns="54864" tIns="27432" bIns="27432">
            <a:spAutoFit/>
          </a:bodyPr>
          <a:lstStyle/>
          <a:p>
            <a:pPr>
              <a:defRPr sz="1400" b="1" i="0">
                <a:solidFill>
                  <a:srgbClr val="193934"/>
                </a:solidFill>
                <a:latin typeface="Aptos"/>
              </a:defRPr>
            </a:pPr>
            <a:r>
              <a:t>Fix KPI logic</a:t>
            </a:r>
          </a:p>
        </p:txBody>
      </p:sp>
      <p:sp>
        <p:nvSpPr>
          <p:cNvPr id="10" name="TextBox 9"/>
          <p:cNvSpPr txBox="1"/>
          <p:nvPr/>
        </p:nvSpPr>
        <p:spPr>
          <a:xfrm>
            <a:off x="4114800" y="1627632"/>
            <a:ext cx="7040880" cy="365760"/>
          </a:xfrm>
          <a:prstGeom prst="rect">
            <a:avLst/>
          </a:prstGeom>
          <a:noFill/>
        </p:spPr>
        <p:txBody>
          <a:bodyPr wrap="none" lIns="54864" rIns="54864" tIns="27432" bIns="27432">
            <a:spAutoFit/>
          </a:bodyPr>
          <a:lstStyle/>
          <a:p>
            <a:pPr>
              <a:defRPr sz="1200" b="0" i="0">
                <a:solidFill>
                  <a:srgbClr val="5A6C65"/>
                </a:solidFill>
                <a:latin typeface="Aptos"/>
              </a:defRPr>
            </a:pPr>
            <a:r>
              <a:t>Total listings = distinct count of listing_id; avoid summing IDs.</a:t>
            </a:r>
          </a:p>
        </p:txBody>
      </p:sp>
      <p:sp>
        <p:nvSpPr>
          <p:cNvPr id="11" name="Oval 10"/>
          <p:cNvSpPr/>
          <p:nvPr/>
        </p:nvSpPr>
        <p:spPr>
          <a:xfrm>
            <a:off x="749808" y="2450592"/>
            <a:ext cx="438912" cy="438912"/>
          </a:xfrm>
          <a:prstGeom prst="ellipse">
            <a:avLst/>
          </a:prstGeom>
          <a:solidFill>
            <a:srgbClr val="3D775B"/>
          </a:solidFill>
          <a:ln>
            <a:solidFill>
              <a:srgbClr val="3D77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560320"/>
            <a:ext cx="384048" cy="164592"/>
          </a:xfrm>
          <a:prstGeom prst="rect">
            <a:avLst/>
          </a:prstGeom>
          <a:noFill/>
        </p:spPr>
        <p:txBody>
          <a:bodyPr wrap="none" lIns="54864" rIns="54864" tIns="27432" bIns="27432">
            <a:spAutoFit/>
          </a:bodyPr>
          <a:lstStyle/>
          <a:p>
            <a:pPr algn="ctr">
              <a:defRPr sz="900" b="1" i="0">
                <a:solidFill>
                  <a:srgbClr val="FFFFFF"/>
                </a:solidFill>
                <a:latin typeface="Aptos"/>
              </a:defRPr>
            </a:pPr>
            <a:r>
              <a:t>02</a:t>
            </a:r>
          </a:p>
        </p:txBody>
      </p:sp>
      <p:sp>
        <p:nvSpPr>
          <p:cNvPr id="13" name="TextBox 12"/>
          <p:cNvSpPr txBox="1"/>
          <p:nvPr/>
        </p:nvSpPr>
        <p:spPr>
          <a:xfrm>
            <a:off x="1417320" y="2432304"/>
            <a:ext cx="2651760" cy="274320"/>
          </a:xfrm>
          <a:prstGeom prst="rect">
            <a:avLst/>
          </a:prstGeom>
          <a:noFill/>
        </p:spPr>
        <p:txBody>
          <a:bodyPr wrap="none" lIns="54864" rIns="54864" tIns="27432" bIns="27432">
            <a:spAutoFit/>
          </a:bodyPr>
          <a:lstStyle/>
          <a:p>
            <a:pPr>
              <a:defRPr sz="1400" b="1" i="0">
                <a:solidFill>
                  <a:srgbClr val="193934"/>
                </a:solidFill>
                <a:latin typeface="Aptos"/>
              </a:defRPr>
            </a:pPr>
            <a:r>
              <a:t>Improve price metrics</a:t>
            </a:r>
          </a:p>
        </p:txBody>
      </p:sp>
      <p:sp>
        <p:nvSpPr>
          <p:cNvPr id="14" name="TextBox 13"/>
          <p:cNvSpPr txBox="1"/>
          <p:nvPr/>
        </p:nvSpPr>
        <p:spPr>
          <a:xfrm>
            <a:off x="4114800" y="2432304"/>
            <a:ext cx="7040880" cy="365760"/>
          </a:xfrm>
          <a:prstGeom prst="rect">
            <a:avLst/>
          </a:prstGeom>
          <a:noFill/>
        </p:spPr>
        <p:txBody>
          <a:bodyPr wrap="none" lIns="54864" rIns="54864" tIns="27432" bIns="27432">
            <a:spAutoFit/>
          </a:bodyPr>
          <a:lstStyle/>
          <a:p>
            <a:pPr>
              <a:defRPr sz="1200" b="0" i="0">
                <a:solidFill>
                  <a:srgbClr val="5A6C65"/>
                </a:solidFill>
                <a:latin typeface="Aptos"/>
              </a:defRPr>
            </a:pPr>
            <a:r>
              <a:t>Show median and average price, currency and date range.</a:t>
            </a:r>
          </a:p>
        </p:txBody>
      </p:sp>
      <p:sp>
        <p:nvSpPr>
          <p:cNvPr id="15" name="Oval 14"/>
          <p:cNvSpPr/>
          <p:nvPr/>
        </p:nvSpPr>
        <p:spPr>
          <a:xfrm>
            <a:off x="749808" y="3255264"/>
            <a:ext cx="438912" cy="438912"/>
          </a:xfrm>
          <a:prstGeom prst="ellipse">
            <a:avLst/>
          </a:prstGeom>
          <a:solidFill>
            <a:srgbClr val="183E69"/>
          </a:solidFill>
          <a:ln>
            <a:solidFill>
              <a:srgbClr val="183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364992"/>
            <a:ext cx="384048" cy="164592"/>
          </a:xfrm>
          <a:prstGeom prst="rect">
            <a:avLst/>
          </a:prstGeom>
          <a:noFill/>
        </p:spPr>
        <p:txBody>
          <a:bodyPr wrap="none" lIns="54864" rIns="54864" tIns="27432" bIns="27432">
            <a:spAutoFit/>
          </a:bodyPr>
          <a:lstStyle/>
          <a:p>
            <a:pPr algn="ctr">
              <a:defRPr sz="900" b="1" i="0">
                <a:solidFill>
                  <a:srgbClr val="FFFFFF"/>
                </a:solidFill>
                <a:latin typeface="Aptos"/>
              </a:defRPr>
            </a:pPr>
            <a:r>
              <a:t>03</a:t>
            </a:r>
          </a:p>
        </p:txBody>
      </p:sp>
      <p:sp>
        <p:nvSpPr>
          <p:cNvPr id="17" name="TextBox 16"/>
          <p:cNvSpPr txBox="1"/>
          <p:nvPr/>
        </p:nvSpPr>
        <p:spPr>
          <a:xfrm>
            <a:off x="1417320" y="3236976"/>
            <a:ext cx="2651760" cy="274320"/>
          </a:xfrm>
          <a:prstGeom prst="rect">
            <a:avLst/>
          </a:prstGeom>
          <a:noFill/>
        </p:spPr>
        <p:txBody>
          <a:bodyPr wrap="none" lIns="54864" rIns="54864" tIns="27432" bIns="27432">
            <a:spAutoFit/>
          </a:bodyPr>
          <a:lstStyle/>
          <a:p>
            <a:pPr>
              <a:defRPr sz="1400" b="1" i="0">
                <a:solidFill>
                  <a:srgbClr val="193934"/>
                </a:solidFill>
                <a:latin typeface="Aptos"/>
              </a:defRPr>
            </a:pPr>
            <a:r>
              <a:t>Make comparisons fair</a:t>
            </a:r>
          </a:p>
        </p:txBody>
      </p:sp>
      <p:sp>
        <p:nvSpPr>
          <p:cNvPr id="18" name="TextBox 17"/>
          <p:cNvSpPr txBox="1"/>
          <p:nvPr/>
        </p:nvSpPr>
        <p:spPr>
          <a:xfrm>
            <a:off x="4114800" y="3236976"/>
            <a:ext cx="7040880" cy="365760"/>
          </a:xfrm>
          <a:prstGeom prst="rect">
            <a:avLst/>
          </a:prstGeom>
          <a:noFill/>
        </p:spPr>
        <p:txBody>
          <a:bodyPr wrap="none" lIns="54864" rIns="54864" tIns="27432" bIns="27432">
            <a:spAutoFit/>
          </a:bodyPr>
          <a:lstStyle/>
          <a:p>
            <a:pPr>
              <a:defRPr sz="1200" b="0" i="0">
                <a:solidFill>
                  <a:srgbClr val="5A6C65"/>
                </a:solidFill>
                <a:latin typeface="Aptos"/>
              </a:defRPr>
            </a:pPr>
            <a:r>
              <a:t>Compare within neighbourhood and room type; filter invalid prices.</a:t>
            </a:r>
          </a:p>
        </p:txBody>
      </p:sp>
      <p:sp>
        <p:nvSpPr>
          <p:cNvPr id="19" name="Oval 18"/>
          <p:cNvSpPr/>
          <p:nvPr/>
        </p:nvSpPr>
        <p:spPr>
          <a:xfrm>
            <a:off x="749808" y="4059936"/>
            <a:ext cx="438912" cy="438912"/>
          </a:xfrm>
          <a:prstGeom prst="ellipse">
            <a:avLst/>
          </a:prstGeom>
          <a:solidFill>
            <a:srgbClr val="EABE5F"/>
          </a:solidFill>
          <a:ln>
            <a:solidFill>
              <a:srgbClr val="EABE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169664"/>
            <a:ext cx="384048" cy="164592"/>
          </a:xfrm>
          <a:prstGeom prst="rect">
            <a:avLst/>
          </a:prstGeom>
          <a:noFill/>
        </p:spPr>
        <p:txBody>
          <a:bodyPr wrap="none" lIns="54864" rIns="54864" tIns="27432" bIns="27432">
            <a:spAutoFit/>
          </a:bodyPr>
          <a:lstStyle/>
          <a:p>
            <a:pPr algn="ctr">
              <a:defRPr sz="900" b="1" i="0">
                <a:solidFill>
                  <a:srgbClr val="FFFFFF"/>
                </a:solidFill>
                <a:latin typeface="Aptos"/>
              </a:defRPr>
            </a:pPr>
            <a:r>
              <a:t>04</a:t>
            </a:r>
          </a:p>
        </p:txBody>
      </p:sp>
      <p:sp>
        <p:nvSpPr>
          <p:cNvPr id="21" name="TextBox 20"/>
          <p:cNvSpPr txBox="1"/>
          <p:nvPr/>
        </p:nvSpPr>
        <p:spPr>
          <a:xfrm>
            <a:off x="1417320" y="4041648"/>
            <a:ext cx="2651760" cy="274320"/>
          </a:xfrm>
          <a:prstGeom prst="rect">
            <a:avLst/>
          </a:prstGeom>
          <a:noFill/>
        </p:spPr>
        <p:txBody>
          <a:bodyPr wrap="none" lIns="54864" rIns="54864" tIns="27432" bIns="27432">
            <a:spAutoFit/>
          </a:bodyPr>
          <a:lstStyle/>
          <a:p>
            <a:pPr>
              <a:defRPr sz="1400" b="1" i="0">
                <a:solidFill>
                  <a:srgbClr val="193934"/>
                </a:solidFill>
                <a:latin typeface="Aptos"/>
              </a:defRPr>
            </a:pPr>
            <a:r>
              <a:t>Add performance measures</a:t>
            </a:r>
          </a:p>
        </p:txBody>
      </p:sp>
      <p:sp>
        <p:nvSpPr>
          <p:cNvPr id="22" name="TextBox 21"/>
          <p:cNvSpPr txBox="1"/>
          <p:nvPr/>
        </p:nvSpPr>
        <p:spPr>
          <a:xfrm>
            <a:off x="4114800" y="4041648"/>
            <a:ext cx="7040880" cy="365760"/>
          </a:xfrm>
          <a:prstGeom prst="rect">
            <a:avLst/>
          </a:prstGeom>
          <a:noFill/>
        </p:spPr>
        <p:txBody>
          <a:bodyPr wrap="none" lIns="54864" rIns="54864" tIns="27432" bIns="27432">
            <a:spAutoFit/>
          </a:bodyPr>
          <a:lstStyle/>
          <a:p>
            <a:pPr>
              <a:defRPr sz="1200" b="0" i="0">
                <a:solidFill>
                  <a:srgbClr val="5A6C65"/>
                </a:solidFill>
                <a:latin typeface="Aptos"/>
              </a:defRPr>
            </a:pPr>
            <a:r>
              <a:t>Add occupancy, availability, review count and revenue if available.</a:t>
            </a:r>
          </a:p>
        </p:txBody>
      </p:sp>
      <p:sp>
        <p:nvSpPr>
          <p:cNvPr id="23" name="Oval 22"/>
          <p:cNvSpPr/>
          <p:nvPr/>
        </p:nvSpPr>
        <p:spPr>
          <a:xfrm>
            <a:off x="749808" y="4864608"/>
            <a:ext cx="438912" cy="438912"/>
          </a:xfrm>
          <a:prstGeom prst="ellipse">
            <a:avLst/>
          </a:prstGeom>
          <a:solidFill>
            <a:srgbClr val="B7D8C3"/>
          </a:solidFill>
          <a:ln>
            <a:solidFill>
              <a:srgbClr val="B7D8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974336"/>
            <a:ext cx="384048" cy="164592"/>
          </a:xfrm>
          <a:prstGeom prst="rect">
            <a:avLst/>
          </a:prstGeom>
          <a:noFill/>
        </p:spPr>
        <p:txBody>
          <a:bodyPr wrap="none" lIns="54864" rIns="54864" tIns="27432" bIns="27432">
            <a:spAutoFit/>
          </a:bodyPr>
          <a:lstStyle/>
          <a:p>
            <a:pPr algn="ctr">
              <a:defRPr sz="900" b="1" i="0">
                <a:solidFill>
                  <a:srgbClr val="FFFFFF"/>
                </a:solidFill>
                <a:latin typeface="Aptos"/>
              </a:defRPr>
            </a:pPr>
            <a:r>
              <a:t>05</a:t>
            </a:r>
          </a:p>
        </p:txBody>
      </p:sp>
      <p:sp>
        <p:nvSpPr>
          <p:cNvPr id="25" name="TextBox 24"/>
          <p:cNvSpPr txBox="1"/>
          <p:nvPr/>
        </p:nvSpPr>
        <p:spPr>
          <a:xfrm>
            <a:off x="1417320" y="4846320"/>
            <a:ext cx="2651760" cy="274320"/>
          </a:xfrm>
          <a:prstGeom prst="rect">
            <a:avLst/>
          </a:prstGeom>
          <a:noFill/>
        </p:spPr>
        <p:txBody>
          <a:bodyPr wrap="none" lIns="54864" rIns="54864" tIns="27432" bIns="27432">
            <a:spAutoFit/>
          </a:bodyPr>
          <a:lstStyle/>
          <a:p>
            <a:pPr>
              <a:defRPr sz="1400" b="1" i="0">
                <a:solidFill>
                  <a:srgbClr val="193934"/>
                </a:solidFill>
                <a:latin typeface="Aptos"/>
              </a:defRPr>
            </a:pPr>
            <a:r>
              <a:t>Improve readability</a:t>
            </a:r>
          </a:p>
        </p:txBody>
      </p:sp>
      <p:sp>
        <p:nvSpPr>
          <p:cNvPr id="26" name="TextBox 25"/>
          <p:cNvSpPr txBox="1"/>
          <p:nvPr/>
        </p:nvSpPr>
        <p:spPr>
          <a:xfrm>
            <a:off x="4114800" y="4846320"/>
            <a:ext cx="7040880" cy="365760"/>
          </a:xfrm>
          <a:prstGeom prst="rect">
            <a:avLst/>
          </a:prstGeom>
          <a:noFill/>
        </p:spPr>
        <p:txBody>
          <a:bodyPr wrap="none" lIns="54864" rIns="54864" tIns="27432" bIns="27432">
            <a:spAutoFit/>
          </a:bodyPr>
          <a:lstStyle/>
          <a:p>
            <a:pPr>
              <a:defRPr sz="1200" b="0" i="0">
                <a:solidFill>
                  <a:srgbClr val="5A6C65"/>
                </a:solidFill>
                <a:latin typeface="Aptos"/>
              </a:defRPr>
            </a:pPr>
            <a:r>
              <a:t>Use full labels and filters for neighbourhood, room type and host type.</a:t>
            </a:r>
          </a:p>
        </p:txBody>
      </p:sp>
      <p:sp>
        <p:nvSpPr>
          <p:cNvPr id="27" name="TextBox 26"/>
          <p:cNvSpPr txBox="1"/>
          <p:nvPr/>
        </p:nvSpPr>
        <p:spPr>
          <a:xfrm>
            <a:off x="777240" y="5897880"/>
            <a:ext cx="10698480" cy="320040"/>
          </a:xfrm>
          <a:prstGeom prst="rect">
            <a:avLst/>
          </a:prstGeom>
          <a:noFill/>
        </p:spPr>
        <p:txBody>
          <a:bodyPr wrap="none" lIns="54864" rIns="54864" tIns="27432" bIns="27432">
            <a:spAutoFit/>
          </a:bodyPr>
          <a:lstStyle/>
          <a:p>
            <a:pPr>
              <a:defRPr sz="1300" b="1" i="1">
                <a:solidFill>
                  <a:srgbClr val="EC7D62"/>
                </a:solidFill>
                <a:latin typeface="Aptos"/>
              </a:defRPr>
            </a:pPr>
            <a:r>
              <a:t>Analyst mindset: improve the question, validate the measure, then communicate the result.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93934"/>
        </a:solidFill>
        <a:effectLst/>
      </p:bgPr>
    </p:bg>
    <p:spTree>
      <p:nvGrpSpPr>
        <p:cNvPr id="1" name=""/>
        <p:cNvGrpSpPr/>
        <p:nvPr/>
      </p:nvGrpSpPr>
      <p:grpSpPr/>
      <p:sp>
        <p:nvSpPr>
          <p:cNvPr id="2" name="TextBox 1"/>
          <p:cNvSpPr txBox="1"/>
          <p:nvPr/>
        </p:nvSpPr>
        <p:spPr>
          <a:xfrm>
            <a:off x="658368" y="411480"/>
            <a:ext cx="3657600" cy="228600"/>
          </a:xfrm>
          <a:prstGeom prst="rect">
            <a:avLst/>
          </a:prstGeom>
          <a:noFill/>
        </p:spPr>
        <p:txBody>
          <a:bodyPr wrap="none" lIns="54864" rIns="54864" tIns="27432" bIns="27432">
            <a:spAutoFit/>
          </a:bodyPr>
          <a:lstStyle/>
          <a:p>
            <a:pPr>
              <a:defRPr sz="1000" b="1" i="0">
                <a:solidFill>
                  <a:srgbClr val="B7D8C3"/>
                </a:solidFill>
                <a:latin typeface="Aptos"/>
              </a:defRPr>
            </a:pPr>
            <a:r>
              <a:t>10 / CLOSE</a:t>
            </a:r>
          </a:p>
        </p:txBody>
      </p:sp>
      <p:sp>
        <p:nvSpPr>
          <p:cNvPr id="3" name="TextBox 2"/>
          <p:cNvSpPr txBox="1"/>
          <p:nvPr/>
        </p:nvSpPr>
        <p:spPr>
          <a:xfrm>
            <a:off x="658368" y="804672"/>
            <a:ext cx="10698480" cy="566928"/>
          </a:xfrm>
          <a:prstGeom prst="rect">
            <a:avLst/>
          </a:prstGeom>
          <a:noFill/>
        </p:spPr>
        <p:txBody>
          <a:bodyPr wrap="none" lIns="54864" rIns="54864" tIns="27432" bIns="27432">
            <a:spAutoFit/>
          </a:bodyPr>
          <a:lstStyle/>
          <a:p>
            <a:pPr>
              <a:defRPr sz="3000" b="1" i="0">
                <a:solidFill>
                  <a:srgbClr val="FFFFFF"/>
                </a:solidFill>
                <a:latin typeface="Aptos"/>
              </a:defRPr>
            </a:pPr>
            <a:r>
              <a:t>The 30-second summary</a:t>
            </a:r>
          </a:p>
        </p:txBody>
      </p:sp>
      <p:sp>
        <p:nvSpPr>
          <p:cNvPr id="4" name="TextBox 3"/>
          <p:cNvSpPr txBox="1"/>
          <p:nvPr/>
        </p:nvSpPr>
        <p:spPr>
          <a:xfrm>
            <a:off x="749808" y="1645920"/>
            <a:ext cx="10469880" cy="1920240"/>
          </a:xfrm>
          <a:prstGeom prst="rect">
            <a:avLst/>
          </a:prstGeom>
          <a:noFill/>
        </p:spPr>
        <p:txBody>
          <a:bodyPr wrap="none" lIns="54864" rIns="54864" tIns="27432" bIns="27432">
            <a:spAutoFit/>
          </a:bodyPr>
          <a:lstStyle/>
          <a:p>
            <a:pPr>
              <a:defRPr sz="1700" b="0" i="0">
                <a:solidFill>
                  <a:srgbClr val="FFFFFF"/>
                </a:solidFill>
                <a:latin typeface="Aptos"/>
              </a:defRPr>
            </a:pPr>
            <a:r>
              <a:t>“This Airbnb dashboard gives a snapshot of listing supply, room-type mix, host categories, neighbourhood prices, guest ratings and geographic spread. The charts suggest entire homes and private rooms dominate the mix, prices vary by neighbourhood, and ratings are fairly close across room types. Before making business decisions, I would validate KPI labels and replace sums of listing IDs with counts. That makes the dashboard more accurate and useful for hosts and analysts.”</a:t>
            </a:r>
          </a:p>
        </p:txBody>
      </p:sp>
      <p:sp>
        <p:nvSpPr>
          <p:cNvPr id="5" name="Rounded Rectangle 4"/>
          <p:cNvSpPr/>
          <p:nvPr/>
        </p:nvSpPr>
        <p:spPr>
          <a:xfrm>
            <a:off x="749808" y="4069080"/>
            <a:ext cx="4800600" cy="1097280"/>
          </a:xfrm>
          <a:prstGeom prst="roundRect">
            <a:avLst/>
          </a:prstGeom>
          <a:solidFill>
            <a:srgbClr val="3D775B"/>
          </a:solidFill>
          <a:ln>
            <a:solidFill>
              <a:srgbClr val="3D77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4279392"/>
            <a:ext cx="2011680" cy="228600"/>
          </a:xfrm>
          <a:prstGeom prst="rect">
            <a:avLst/>
          </a:prstGeom>
          <a:noFill/>
        </p:spPr>
        <p:txBody>
          <a:bodyPr wrap="none" lIns="54864" rIns="54864" tIns="27432" bIns="27432">
            <a:spAutoFit/>
          </a:bodyPr>
          <a:lstStyle/>
          <a:p>
            <a:pPr>
              <a:defRPr sz="1100" b="1" i="0">
                <a:solidFill>
                  <a:srgbClr val="EABE5F"/>
                </a:solidFill>
                <a:latin typeface="Aptos"/>
              </a:defRPr>
            </a:pPr>
            <a:r>
              <a:t>CLASS QUESTION</a:t>
            </a:r>
          </a:p>
        </p:txBody>
      </p:sp>
      <p:sp>
        <p:nvSpPr>
          <p:cNvPr id="7" name="TextBox 6"/>
          <p:cNvSpPr txBox="1"/>
          <p:nvPr/>
        </p:nvSpPr>
        <p:spPr>
          <a:xfrm>
            <a:off x="960120" y="4572000"/>
            <a:ext cx="4206240" cy="411480"/>
          </a:xfrm>
          <a:prstGeom prst="rect">
            <a:avLst/>
          </a:prstGeom>
          <a:noFill/>
        </p:spPr>
        <p:txBody>
          <a:bodyPr wrap="none" lIns="54864" rIns="54864" tIns="27432" bIns="27432">
            <a:spAutoFit/>
          </a:bodyPr>
          <a:lstStyle/>
          <a:p>
            <a:pPr>
              <a:defRPr sz="1500" b="1" i="0">
                <a:solidFill>
                  <a:srgbClr val="FFFFFF"/>
                </a:solidFill>
                <a:latin typeface="Aptos"/>
              </a:defRPr>
            </a:pPr>
            <a:r>
              <a:t>Would you choose a cheaper listing or a higher-rated one?</a:t>
            </a:r>
          </a:p>
        </p:txBody>
      </p:sp>
      <p:sp>
        <p:nvSpPr>
          <p:cNvPr id="8" name="Rounded Rectangle 7"/>
          <p:cNvSpPr/>
          <p:nvPr/>
        </p:nvSpPr>
        <p:spPr>
          <a:xfrm>
            <a:off x="5897880" y="4069080"/>
            <a:ext cx="5074920" cy="1097280"/>
          </a:xfrm>
          <a:prstGeom prst="roundRect">
            <a:avLst/>
          </a:prstGeom>
          <a:solidFill>
            <a:srgbClr val="2D4C46"/>
          </a:solidFill>
          <a:ln>
            <a:solidFill>
              <a:srgbClr val="2D4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4279392"/>
            <a:ext cx="4389120" cy="228600"/>
          </a:xfrm>
          <a:prstGeom prst="rect">
            <a:avLst/>
          </a:prstGeom>
          <a:noFill/>
        </p:spPr>
        <p:txBody>
          <a:bodyPr wrap="none" lIns="54864" rIns="54864" tIns="27432" bIns="27432">
            <a:spAutoFit/>
          </a:bodyPr>
          <a:lstStyle/>
          <a:p>
            <a:pPr>
              <a:defRPr sz="1100" b="1" i="0">
                <a:solidFill>
                  <a:srgbClr val="B7D8C3"/>
                </a:solidFill>
                <a:latin typeface="Aptos"/>
              </a:defRPr>
            </a:pPr>
            <a:r>
              <a:t>IF ASKED ABOUT LIMITATIONS</a:t>
            </a:r>
          </a:p>
        </p:txBody>
      </p:sp>
      <p:sp>
        <p:nvSpPr>
          <p:cNvPr id="10" name="TextBox 9"/>
          <p:cNvSpPr txBox="1"/>
          <p:nvPr/>
        </p:nvSpPr>
        <p:spPr>
          <a:xfrm>
            <a:off x="6126480" y="4572000"/>
            <a:ext cx="4480560" cy="411480"/>
          </a:xfrm>
          <a:prstGeom prst="rect">
            <a:avLst/>
          </a:prstGeom>
          <a:noFill/>
        </p:spPr>
        <p:txBody>
          <a:bodyPr wrap="none" lIns="54864" rIns="54864" tIns="27432" bIns="27432">
            <a:spAutoFit/>
          </a:bodyPr>
          <a:lstStyle/>
          <a:p>
            <a:pPr>
              <a:defRPr sz="1300" b="0" i="0">
                <a:solidFill>
                  <a:srgbClr val="FFFFFF"/>
                </a:solidFill>
                <a:latin typeface="Aptos"/>
              </a:defRPr>
            </a:pPr>
            <a:r>
              <a:t>Some labels are truncated and ID sums need correction before precise conclusions.</a:t>
            </a:r>
          </a:p>
        </p:txBody>
      </p:sp>
      <p:sp>
        <p:nvSpPr>
          <p:cNvPr id="11" name="TextBox 10"/>
          <p:cNvSpPr txBox="1"/>
          <p:nvPr/>
        </p:nvSpPr>
        <p:spPr>
          <a:xfrm>
            <a:off x="749808" y="5989320"/>
            <a:ext cx="10058400" cy="320040"/>
          </a:xfrm>
          <a:prstGeom prst="rect">
            <a:avLst/>
          </a:prstGeom>
          <a:noFill/>
        </p:spPr>
        <p:txBody>
          <a:bodyPr wrap="none" lIns="54864" rIns="54864" tIns="27432" bIns="27432">
            <a:spAutoFit/>
          </a:bodyPr>
          <a:lstStyle/>
          <a:p>
            <a:pPr>
              <a:defRPr sz="1600" b="1" i="0">
                <a:solidFill>
                  <a:srgbClr val="B7D8C3"/>
                </a:solidFill>
                <a:latin typeface="Aptos"/>
              </a:defRPr>
            </a:pPr>
            <a: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